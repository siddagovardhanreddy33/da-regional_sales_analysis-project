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40" y="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lineChart>
        <c:grouping val="standard"/>
        <c:varyColors val="0"/>
        <c:ser>
          <c:idx val="0"/>
          <c:order val="0"/>
          <c:tx>
            <c:strRef>
              <c:f>Sheet1!$B$1</c:f>
              <c:strCache>
                <c:ptCount val="1"/>
                <c:pt idx="0">
                  <c:v>Monthly Revenue ($M)</c:v>
                </c:pt>
              </c:strCache>
            </c:strRef>
          </c:tx>
          <c:spPr>
            <a:ln w="25400" cap="flat">
              <a:solidFill>
                <a:srgbClr val="0EA5E9"/>
              </a:solidFill>
              <a:prstDash val="solid"/>
              <a:round/>
            </a:ln>
            <a:effectLst/>
          </c:spPr>
          <c:marker>
            <c:symbol val="circle"/>
            <c:size val="6"/>
            <c:spPr>
              <a:solidFill>
                <a:srgbClr val="0EA5E9"/>
              </a:solidFill>
              <a:ln w="9525" cap="flat">
                <a:solidFill>
                  <a:srgbClr val="0EA5E9"/>
                </a:solidFill>
                <a:prstDash val="solid"/>
                <a:round/>
              </a:ln>
              <a:effectLst/>
            </c:spPr>
          </c:marker>
          <c:cat>
            <c:strRef>
              <c:f>Sheet1!$A$2:$A$49</c:f>
              <c:strCache>
                <c:ptCount val="48"/>
                <c:pt idx="0">
                  <c:v>Jan 2014</c:v>
                </c:pt>
                <c:pt idx="1">
                  <c:v>Feb 2014</c:v>
                </c:pt>
                <c:pt idx="2">
                  <c:v>Mar 2014</c:v>
                </c:pt>
                <c:pt idx="3">
                  <c:v>Apr 2014</c:v>
                </c:pt>
                <c:pt idx="4">
                  <c:v>May 2014</c:v>
                </c:pt>
                <c:pt idx="5">
                  <c:v>Jun 2014</c:v>
                </c:pt>
                <c:pt idx="6">
                  <c:v>Jul 2014</c:v>
                </c:pt>
                <c:pt idx="7">
                  <c:v>Aug 2014</c:v>
                </c:pt>
                <c:pt idx="8">
                  <c:v>Sep 2014</c:v>
                </c:pt>
                <c:pt idx="9">
                  <c:v>Oct 2014</c:v>
                </c:pt>
                <c:pt idx="10">
                  <c:v>Nov 2014</c:v>
                </c:pt>
                <c:pt idx="11">
                  <c:v>Dec 2014</c:v>
                </c:pt>
                <c:pt idx="12">
                  <c:v>Jan 2015</c:v>
                </c:pt>
                <c:pt idx="13">
                  <c:v>Feb 2015</c:v>
                </c:pt>
                <c:pt idx="14">
                  <c:v>Mar 2015</c:v>
                </c:pt>
                <c:pt idx="15">
                  <c:v>Apr 2015</c:v>
                </c:pt>
                <c:pt idx="16">
                  <c:v>May 2015</c:v>
                </c:pt>
                <c:pt idx="17">
                  <c:v>Jun 2015</c:v>
                </c:pt>
                <c:pt idx="18">
                  <c:v>Jul 2015</c:v>
                </c:pt>
                <c:pt idx="19">
                  <c:v>Aug 2015</c:v>
                </c:pt>
                <c:pt idx="20">
                  <c:v>Sep 2015</c:v>
                </c:pt>
                <c:pt idx="21">
                  <c:v>Oct 2015</c:v>
                </c:pt>
                <c:pt idx="22">
                  <c:v>Nov 2015</c:v>
                </c:pt>
                <c:pt idx="23">
                  <c:v>Dec 2015</c:v>
                </c:pt>
                <c:pt idx="24">
                  <c:v>Jan 2016</c:v>
                </c:pt>
                <c:pt idx="25">
                  <c:v>Feb 2016</c:v>
                </c:pt>
                <c:pt idx="26">
                  <c:v>Mar 2016</c:v>
                </c:pt>
                <c:pt idx="27">
                  <c:v>Apr 2016</c:v>
                </c:pt>
                <c:pt idx="28">
                  <c:v>May 2016</c:v>
                </c:pt>
                <c:pt idx="29">
                  <c:v>Jun 2016</c:v>
                </c:pt>
                <c:pt idx="30">
                  <c:v>Jul 2016</c:v>
                </c:pt>
                <c:pt idx="31">
                  <c:v>Aug 2016</c:v>
                </c:pt>
                <c:pt idx="32">
                  <c:v>Sep 2016</c:v>
                </c:pt>
                <c:pt idx="33">
                  <c:v>Oct 2016</c:v>
                </c:pt>
                <c:pt idx="34">
                  <c:v>Nov 2016</c:v>
                </c:pt>
                <c:pt idx="35">
                  <c:v>Dec 2016</c:v>
                </c:pt>
                <c:pt idx="36">
                  <c:v>Jan 2017</c:v>
                </c:pt>
                <c:pt idx="37">
                  <c:v>Feb 2017</c:v>
                </c:pt>
                <c:pt idx="38">
                  <c:v>Mar 2017</c:v>
                </c:pt>
                <c:pt idx="39">
                  <c:v>Apr 2017</c:v>
                </c:pt>
                <c:pt idx="40">
                  <c:v>May 2017</c:v>
                </c:pt>
                <c:pt idx="41">
                  <c:v>Jun 2017</c:v>
                </c:pt>
                <c:pt idx="42">
                  <c:v>Jul 2017</c:v>
                </c:pt>
                <c:pt idx="43">
                  <c:v>Aug 2017</c:v>
                </c:pt>
                <c:pt idx="44">
                  <c:v>Sep 2017</c:v>
                </c:pt>
                <c:pt idx="45">
                  <c:v>Oct 2017</c:v>
                </c:pt>
                <c:pt idx="46">
                  <c:v>Nov 2017</c:v>
                </c:pt>
                <c:pt idx="47">
                  <c:v>Dec 2017</c:v>
                </c:pt>
              </c:strCache>
            </c:strRef>
          </c:cat>
          <c:val>
            <c:numRef>
              <c:f>Sheet1!$B$2:$B$49</c:f>
              <c:numCache>
                <c:formatCode>General</c:formatCode>
                <c:ptCount val="48"/>
                <c:pt idx="0">
                  <c:v>25</c:v>
                </c:pt>
                <c:pt idx="1">
                  <c:v>23.9</c:v>
                </c:pt>
                <c:pt idx="2">
                  <c:v>23.7</c:v>
                </c:pt>
                <c:pt idx="3">
                  <c:v>24.9</c:v>
                </c:pt>
                <c:pt idx="4">
                  <c:v>25.7</c:v>
                </c:pt>
                <c:pt idx="5">
                  <c:v>23.8</c:v>
                </c:pt>
                <c:pt idx="6">
                  <c:v>23.5</c:v>
                </c:pt>
                <c:pt idx="7">
                  <c:v>25.4</c:v>
                </c:pt>
                <c:pt idx="8">
                  <c:v>25.5</c:v>
                </c:pt>
                <c:pt idx="9">
                  <c:v>24.3</c:v>
                </c:pt>
                <c:pt idx="10">
                  <c:v>26.3</c:v>
                </c:pt>
                <c:pt idx="11">
                  <c:v>25.7</c:v>
                </c:pt>
                <c:pt idx="12">
                  <c:v>25.5</c:v>
                </c:pt>
                <c:pt idx="13">
                  <c:v>23</c:v>
                </c:pt>
                <c:pt idx="14">
                  <c:v>24.4</c:v>
                </c:pt>
                <c:pt idx="15">
                  <c:v>23.7</c:v>
                </c:pt>
                <c:pt idx="16">
                  <c:v>25</c:v>
                </c:pt>
                <c:pt idx="17">
                  <c:v>24.5</c:v>
                </c:pt>
                <c:pt idx="18">
                  <c:v>24.8</c:v>
                </c:pt>
                <c:pt idx="19">
                  <c:v>26.2</c:v>
                </c:pt>
                <c:pt idx="20">
                  <c:v>24.7</c:v>
                </c:pt>
                <c:pt idx="21">
                  <c:v>25.5</c:v>
                </c:pt>
                <c:pt idx="22">
                  <c:v>25.6</c:v>
                </c:pt>
                <c:pt idx="23">
                  <c:v>25.6</c:v>
                </c:pt>
                <c:pt idx="24">
                  <c:v>24.9</c:v>
                </c:pt>
                <c:pt idx="25">
                  <c:v>23.2</c:v>
                </c:pt>
                <c:pt idx="26">
                  <c:v>26.4</c:v>
                </c:pt>
                <c:pt idx="27">
                  <c:v>23.2</c:v>
                </c:pt>
                <c:pt idx="28">
                  <c:v>25.3</c:v>
                </c:pt>
                <c:pt idx="29">
                  <c:v>24.8</c:v>
                </c:pt>
                <c:pt idx="30">
                  <c:v>24.8</c:v>
                </c:pt>
                <c:pt idx="31">
                  <c:v>25.1</c:v>
                </c:pt>
                <c:pt idx="32">
                  <c:v>24.6</c:v>
                </c:pt>
                <c:pt idx="33">
                  <c:v>25.9</c:v>
                </c:pt>
                <c:pt idx="34">
                  <c:v>25.1</c:v>
                </c:pt>
                <c:pt idx="35">
                  <c:v>25</c:v>
                </c:pt>
                <c:pt idx="36">
                  <c:v>24</c:v>
                </c:pt>
                <c:pt idx="37">
                  <c:v>22.5</c:v>
                </c:pt>
                <c:pt idx="38">
                  <c:v>25.2</c:v>
                </c:pt>
                <c:pt idx="39">
                  <c:v>23.8</c:v>
                </c:pt>
                <c:pt idx="40">
                  <c:v>24.6</c:v>
                </c:pt>
                <c:pt idx="41">
                  <c:v>24.1</c:v>
                </c:pt>
                <c:pt idx="42">
                  <c:v>24.4</c:v>
                </c:pt>
                <c:pt idx="43">
                  <c:v>25.3</c:v>
                </c:pt>
                <c:pt idx="44">
                  <c:v>24.1</c:v>
                </c:pt>
                <c:pt idx="45">
                  <c:v>25.3</c:v>
                </c:pt>
                <c:pt idx="46">
                  <c:v>25.2</c:v>
                </c:pt>
                <c:pt idx="47">
                  <c:v>25</c:v>
                </c:pt>
              </c:numCache>
            </c:numRef>
          </c:val>
          <c:smooth val="1"/>
          <c:extLst>
            <c:ext xmlns:c16="http://schemas.microsoft.com/office/drawing/2014/chart" uri="{C3380CC4-5D6E-409C-BE32-E72D297353CC}">
              <c16:uniqueId val="{00000000-74D2-4ECA-9EE8-54A2060AE7E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FA8C8"/>
                </a:solidFill>
                <a:latin typeface="Arial"/>
              </a:defRPr>
            </a:pPr>
            <a:endParaRPr lang="en-US"/>
          </a:p>
        </c:txPr>
        <c:crossAx val="2094734552"/>
        <c:crosses val="autoZero"/>
        <c:auto val="1"/>
        <c:lblAlgn val="ctr"/>
        <c:lblOffset val="100"/>
        <c:noMultiLvlLbl val="1"/>
      </c:catAx>
      <c:valAx>
        <c:axId val="2094734552"/>
        <c:scaling>
          <c:orientation val="minMax"/>
          <c:max val="28"/>
          <c:min val="20"/>
        </c:scaling>
        <c:delete val="0"/>
        <c:axPos val="l"/>
        <c:majorGridlines>
          <c:spPr>
            <a:ln w="6350" cap="flat">
              <a:solidFill>
                <a:srgbClr val="1E3A5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FA8C8"/>
                </a:solidFill>
                <a:latin typeface="Arial"/>
              </a:defRPr>
            </a:pPr>
            <a:endParaRPr lang="en-US"/>
          </a:p>
        </c:txPr>
        <c:crossAx val="2094734554"/>
        <c:crosses val="autoZero"/>
        <c:crossBetween val="between"/>
      </c:valAx>
      <c:spPr>
        <a:solidFill>
          <a:srgbClr val="1B3A6B"/>
        </a:solidFill>
        <a:ln>
          <a:noFill/>
        </a:ln>
        <a:effectLst/>
      </c:spPr>
    </c:plotArea>
    <c:plotVisOnly val="1"/>
    <c:dispBlanksAs val="span"/>
    <c:showDLblsOverMax val="1"/>
  </c:chart>
  <c:spPr>
    <a:solidFill>
      <a:srgbClr val="1B3A6B"/>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Total Revenue ($M)</c:v>
                </c:pt>
              </c:strCache>
            </c:strRef>
          </c:tx>
          <c:spPr>
            <a:solidFill>
              <a:srgbClr val="0EA5E9"/>
            </a:solidFill>
            <a:effectLst/>
          </c:spPr>
          <c:invertIfNegative val="0"/>
          <c:dLbls>
            <c:numFmt formatCode="#,##0" sourceLinked="0"/>
            <c:spPr>
              <a:noFill/>
              <a:ln>
                <a:noFill/>
              </a:ln>
              <a:effectLst/>
            </c:spPr>
            <c:txPr>
              <a:bodyPr/>
              <a:lstStyle/>
              <a:p>
                <a:pPr>
                  <a:defRPr sz="800" b="0" i="0" u="none" strike="noStrike">
                    <a:solidFill>
                      <a:srgbClr val="334155"/>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99.5</c:v>
                </c:pt>
                <c:pt idx="1">
                  <c:v>93.8</c:v>
                </c:pt>
                <c:pt idx="2">
                  <c:v>99.9</c:v>
                </c:pt>
                <c:pt idx="3">
                  <c:v>94.8</c:v>
                </c:pt>
                <c:pt idx="4">
                  <c:v>101.6</c:v>
                </c:pt>
                <c:pt idx="5">
                  <c:v>97.3</c:v>
                </c:pt>
                <c:pt idx="6">
                  <c:v>97.8</c:v>
                </c:pt>
                <c:pt idx="7">
                  <c:v>102</c:v>
                </c:pt>
                <c:pt idx="8">
                  <c:v>98.8</c:v>
                </c:pt>
                <c:pt idx="9">
                  <c:v>100.8</c:v>
                </c:pt>
                <c:pt idx="10">
                  <c:v>102</c:v>
                </c:pt>
                <c:pt idx="11">
                  <c:v>101</c:v>
                </c:pt>
              </c:numCache>
            </c:numRef>
          </c:val>
          <c:extLst>
            <c:ext xmlns:c16="http://schemas.microsoft.com/office/drawing/2014/chart" uri="{C3380CC4-5D6E-409C-BE32-E72D297353CC}">
              <c16:uniqueId val="{00000000-94C0-4760-BBE1-BF8B95385B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in val="88"/>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bar"/>
        <c:grouping val="clustered"/>
        <c:varyColors val="0"/>
        <c:ser>
          <c:idx val="0"/>
          <c:order val="0"/>
          <c:tx>
            <c:strRef>
              <c:f>Sheet1!$B$1</c:f>
              <c:strCache>
                <c:ptCount val="1"/>
                <c:pt idx="0">
                  <c:v>Revenue ($M)</c:v>
                </c:pt>
              </c:strCache>
            </c:strRef>
          </c:tx>
          <c:spPr>
            <a:solidFill>
              <a:srgbClr val="0EA5E9"/>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Product 26</c:v>
                </c:pt>
                <c:pt idx="1">
                  <c:v>Product 25</c:v>
                </c:pt>
                <c:pt idx="2">
                  <c:v>Product 13</c:v>
                </c:pt>
                <c:pt idx="3">
                  <c:v>Product 6</c:v>
                </c:pt>
                <c:pt idx="4">
                  <c:v>Product 18</c:v>
                </c:pt>
                <c:pt idx="5">
                  <c:v>Product 5</c:v>
                </c:pt>
                <c:pt idx="6">
                  <c:v>Product 21</c:v>
                </c:pt>
                <c:pt idx="7">
                  <c:v>Product 11</c:v>
                </c:pt>
                <c:pt idx="8">
                  <c:v>Product 2</c:v>
                </c:pt>
                <c:pt idx="9">
                  <c:v>Product 4</c:v>
                </c:pt>
              </c:strCache>
            </c:strRef>
          </c:cat>
          <c:val>
            <c:numRef>
              <c:f>Sheet1!$B$2:$B$11</c:f>
              <c:numCache>
                <c:formatCode>General</c:formatCode>
                <c:ptCount val="10"/>
                <c:pt idx="0">
                  <c:v>118</c:v>
                </c:pt>
                <c:pt idx="1">
                  <c:v>110</c:v>
                </c:pt>
                <c:pt idx="2">
                  <c:v>78</c:v>
                </c:pt>
                <c:pt idx="3">
                  <c:v>75</c:v>
                </c:pt>
                <c:pt idx="4">
                  <c:v>73</c:v>
                </c:pt>
                <c:pt idx="5">
                  <c:v>71</c:v>
                </c:pt>
                <c:pt idx="6">
                  <c:v>70</c:v>
                </c:pt>
                <c:pt idx="7">
                  <c:v>68</c:v>
                </c:pt>
                <c:pt idx="8">
                  <c:v>57</c:v>
                </c:pt>
                <c:pt idx="9">
                  <c:v>52</c:v>
                </c:pt>
              </c:numCache>
            </c:numRef>
          </c:val>
          <c:extLst>
            <c:ext xmlns:c16="http://schemas.microsoft.com/office/drawing/2014/chart" uri="{C3380CC4-5D6E-409C-BE32-E72D297353CC}">
              <c16:uniqueId val="{00000000-C52C-4AC0-96D4-31E5F884868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D1D9E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1E3A5A"/>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8FA8C8"/>
                </a:solidFill>
                <a:latin typeface="Arial"/>
              </a:defRPr>
            </a:pPr>
            <a:endParaRPr lang="en-US"/>
          </a:p>
        </c:txPr>
        <c:crossAx val="2094734554"/>
        <c:crosses val="autoZero"/>
        <c:crossBetween val="between"/>
      </c:valAx>
      <c:spPr>
        <a:solidFill>
          <a:srgbClr val="1B3A6B"/>
        </a:solidFill>
        <a:ln>
          <a:noFill/>
        </a:ln>
        <a:effectLst/>
      </c:spPr>
    </c:plotArea>
    <c:plotVisOnly val="1"/>
    <c:dispBlanksAs val="span"/>
    <c:showDLblsOverMax val="1"/>
  </c:chart>
  <c:spPr>
    <a:solidFill>
      <a:srgbClr val="1B3A6B"/>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Avg Profit (K USD)</c:v>
                </c:pt>
              </c:strCache>
            </c:strRef>
          </c:tx>
          <c:spPr>
            <a:solidFill>
              <a:srgbClr val="10B981"/>
            </a:solidFill>
            <a:effectLst/>
          </c:spPr>
          <c:invertIfNegative val="0"/>
          <c:dLbls>
            <c:numFmt formatCode="#,##0" sourceLinked="0"/>
            <c:spPr>
              <a:noFill/>
              <a:ln>
                <a:noFill/>
              </a:ln>
              <a:effectLst/>
            </c:spPr>
            <c:txPr>
              <a:bodyPr/>
              <a:lstStyle/>
              <a:p>
                <a:pPr>
                  <a:defRPr sz="9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Product 28</c:v>
                </c:pt>
                <c:pt idx="1">
                  <c:v>Product 18</c:v>
                </c:pt>
                <c:pt idx="2">
                  <c:v>Product 5</c:v>
                </c:pt>
                <c:pt idx="3">
                  <c:v>Product 11</c:v>
                </c:pt>
                <c:pt idx="4">
                  <c:v>Product 26</c:v>
                </c:pt>
                <c:pt idx="5">
                  <c:v>Product 21</c:v>
                </c:pt>
                <c:pt idx="6">
                  <c:v>Product 12</c:v>
                </c:pt>
                <c:pt idx="7">
                  <c:v>Product 16</c:v>
                </c:pt>
                <c:pt idx="8">
                  <c:v>Product 4</c:v>
                </c:pt>
                <c:pt idx="9">
                  <c:v>Product 1</c:v>
                </c:pt>
              </c:strCache>
            </c:strRef>
          </c:cat>
          <c:val>
            <c:numRef>
              <c:f>Sheet1!$B$2:$B$11</c:f>
              <c:numCache>
                <c:formatCode>General</c:formatCode>
                <c:ptCount val="10"/>
                <c:pt idx="0">
                  <c:v>8.3000000000000007</c:v>
                </c:pt>
                <c:pt idx="1">
                  <c:v>8</c:v>
                </c:pt>
                <c:pt idx="2">
                  <c:v>7.95</c:v>
                </c:pt>
                <c:pt idx="3">
                  <c:v>7.9</c:v>
                </c:pt>
                <c:pt idx="4">
                  <c:v>7.82</c:v>
                </c:pt>
                <c:pt idx="5">
                  <c:v>7.79</c:v>
                </c:pt>
                <c:pt idx="6">
                  <c:v>7.76</c:v>
                </c:pt>
                <c:pt idx="7">
                  <c:v>7.56</c:v>
                </c:pt>
                <c:pt idx="8">
                  <c:v>7.5</c:v>
                </c:pt>
                <c:pt idx="9">
                  <c:v>7.4</c:v>
                </c:pt>
              </c:numCache>
            </c:numRef>
          </c:val>
          <c:extLst>
            <c:ext xmlns:c16="http://schemas.microsoft.com/office/drawing/2014/chart" uri="{C3380CC4-5D6E-409C-BE32-E72D297353CC}">
              <c16:uniqueId val="{00000000-AEB9-4B1D-B2CB-7033C5D8BD8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min val="7"/>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pieChart>
        <c:varyColors val="1"/>
        <c:ser>
          <c:idx val="0"/>
          <c:order val="0"/>
          <c:tx>
            <c:strRef>
              <c:f>Sheet1!$B$1</c:f>
              <c:strCache>
                <c:ptCount val="1"/>
                <c:pt idx="0">
                  <c:v>Channel Revenue</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extLst>
              <c:ext xmlns:c16="http://schemas.microsoft.com/office/drawing/2014/chart" uri="{C3380CC4-5D6E-409C-BE32-E72D297353CC}">
                <c16:uniqueId val="{00000001-113A-4868-9864-52E22807D139}"/>
              </c:ext>
            </c:extLst>
          </c:dPt>
          <c:dPt>
            <c:idx val="1"/>
            <c:bubble3D val="0"/>
            <c:spPr>
              <a:solidFill>
                <a:srgbClr val="0369A1"/>
              </a:solidFill>
              <a:effectLst/>
            </c:spPr>
            <c:extLst>
              <c:ext xmlns:c16="http://schemas.microsoft.com/office/drawing/2014/chart" uri="{C3380CC4-5D6E-409C-BE32-E72D297353CC}">
                <c16:uniqueId val="{00000003-113A-4868-9864-52E22807D139}"/>
              </c:ext>
            </c:extLst>
          </c:dPt>
          <c:dPt>
            <c:idx val="2"/>
            <c:bubble3D val="0"/>
            <c:spPr>
              <a:solidFill>
                <a:srgbClr val="7DD3FC"/>
              </a:solidFill>
              <a:effectLst/>
            </c:spPr>
            <c:extLst>
              <c:ext xmlns:c16="http://schemas.microsoft.com/office/drawing/2014/chart" uri="{C3380CC4-5D6E-409C-BE32-E72D297353CC}">
                <c16:uniqueId val="{00000005-113A-4868-9864-52E22807D139}"/>
              </c:ext>
            </c:extLst>
          </c:dPt>
          <c:dLbls>
            <c:dLbl>
              <c:idx val="0"/>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13A-4868-9864-52E22807D139}"/>
                </c:ext>
              </c:extLst>
            </c:dLbl>
            <c:dLbl>
              <c:idx val="1"/>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13A-4868-9864-52E22807D139}"/>
                </c:ext>
              </c:extLst>
            </c:dLbl>
            <c:dLbl>
              <c:idx val="2"/>
              <c:numFmt formatCode="0%" sourceLinked="0"/>
              <c:spPr/>
              <c:txPr>
                <a:bodyPr/>
                <a:lstStyle/>
                <a:p>
                  <a:pPr>
                    <a:defRPr sz="1300" b="1"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13A-4868-9864-52E22807D139}"/>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Wholesale</c:v>
                </c:pt>
                <c:pt idx="1">
                  <c:v>Distributor</c:v>
                </c:pt>
                <c:pt idx="2">
                  <c:v>Export</c:v>
                </c:pt>
              </c:strCache>
            </c:strRef>
          </c:cat>
          <c:val>
            <c:numRef>
              <c:f>Sheet1!$B$2:$B$4</c:f>
              <c:numCache>
                <c:formatCode>General</c:formatCode>
                <c:ptCount val="3"/>
                <c:pt idx="0">
                  <c:v>54</c:v>
                </c:pt>
                <c:pt idx="1">
                  <c:v>31</c:v>
                </c:pt>
                <c:pt idx="2">
                  <c:v>15</c:v>
                </c:pt>
              </c:numCache>
            </c:numRef>
          </c:val>
          <c:extLst>
            <c:ext xmlns:c16="http://schemas.microsoft.com/office/drawing/2014/chart" uri="{C3380CC4-5D6E-409C-BE32-E72D297353CC}">
              <c16:uniqueId val="{00000006-113A-4868-9864-52E22807D139}"/>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100">
              <a:solidFill>
                <a:srgbClr val="D1D9E8"/>
              </a:solidFill>
            </a:defRPr>
          </a:pPr>
          <a:endParaRPr lang="en-US"/>
        </a:p>
      </c:txPr>
    </c:legend>
    <c:plotVisOnly val="1"/>
    <c:dispBlanksAs val="span"/>
    <c:showDLblsOverMax val="1"/>
  </c:chart>
  <c:spPr>
    <a:solidFill>
      <a:srgbClr val="1B3A6B"/>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Total Sales ($M)</c:v>
                </c:pt>
              </c:strCache>
            </c:strRef>
          </c:tx>
          <c:spPr>
            <a:solidFill>
              <a:srgbClr val="0EA5E9"/>
            </a:solidFill>
            <a:effectLst/>
          </c:spPr>
          <c:invertIfNegative val="0"/>
          <c:dPt>
            <c:idx val="0"/>
            <c:invertIfNegative val="0"/>
            <c:bubble3D val="0"/>
            <c:extLst>
              <c:ext xmlns:c16="http://schemas.microsoft.com/office/drawing/2014/chart" uri="{C3380CC4-5D6E-409C-BE32-E72D297353CC}">
                <c16:uniqueId val="{00000001-45BD-4B15-A66A-36065CF7973E}"/>
              </c:ext>
            </c:extLst>
          </c:dPt>
          <c:dPt>
            <c:idx val="1"/>
            <c:invertIfNegative val="0"/>
            <c:bubble3D val="0"/>
            <c:spPr>
              <a:solidFill>
                <a:srgbClr val="0369A1"/>
              </a:solidFill>
              <a:effectLst/>
            </c:spPr>
            <c:extLst>
              <c:ext xmlns:c16="http://schemas.microsoft.com/office/drawing/2014/chart" uri="{C3380CC4-5D6E-409C-BE32-E72D297353CC}">
                <c16:uniqueId val="{00000003-45BD-4B15-A66A-36065CF7973E}"/>
              </c:ext>
            </c:extLst>
          </c:dPt>
          <c:dPt>
            <c:idx val="2"/>
            <c:invertIfNegative val="0"/>
            <c:bubble3D val="0"/>
            <c:spPr>
              <a:solidFill>
                <a:srgbClr val="0369A1"/>
              </a:solidFill>
              <a:effectLst/>
            </c:spPr>
            <c:extLst>
              <c:ext xmlns:c16="http://schemas.microsoft.com/office/drawing/2014/chart" uri="{C3380CC4-5D6E-409C-BE32-E72D297353CC}">
                <c16:uniqueId val="{00000005-45BD-4B15-A66A-36065CF7973E}"/>
              </c:ext>
            </c:extLst>
          </c:dPt>
          <c:dPt>
            <c:idx val="3"/>
            <c:invertIfNegative val="0"/>
            <c:bubble3D val="0"/>
            <c:spPr>
              <a:solidFill>
                <a:srgbClr val="7DD3FC"/>
              </a:solidFill>
              <a:effectLst/>
            </c:spPr>
            <c:extLst>
              <c:ext xmlns:c16="http://schemas.microsoft.com/office/drawing/2014/chart" uri="{C3380CC4-5D6E-409C-BE32-E72D297353CC}">
                <c16:uniqueId val="{00000007-45BD-4B15-A66A-36065CF7973E}"/>
              </c:ext>
            </c:extLst>
          </c:dPt>
          <c:dLbls>
            <c:numFmt formatCode="#,##0" sourceLinked="0"/>
            <c:spPr>
              <a:noFill/>
              <a:ln>
                <a:noFill/>
              </a:ln>
              <a:effectLst/>
            </c:spPr>
            <c:txPr>
              <a:bodyPr/>
              <a:lstStyle/>
              <a:p>
                <a:pPr>
                  <a:defRPr sz="1100" b="0" i="0" u="none" strike="noStrike">
                    <a:solidFill>
                      <a:srgbClr val="1E293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West</c:v>
                </c:pt>
                <c:pt idx="1">
                  <c:v>South</c:v>
                </c:pt>
                <c:pt idx="2">
                  <c:v>Midwest</c:v>
                </c:pt>
                <c:pt idx="3">
                  <c:v>Northeast</c:v>
                </c:pt>
              </c:strCache>
            </c:strRef>
          </c:cat>
          <c:val>
            <c:numRef>
              <c:f>Sheet1!$B$2:$B$5</c:f>
              <c:numCache>
                <c:formatCode>General</c:formatCode>
                <c:ptCount val="4"/>
                <c:pt idx="0">
                  <c:v>360</c:v>
                </c:pt>
                <c:pt idx="1">
                  <c:v>325</c:v>
                </c:pt>
                <c:pt idx="2">
                  <c:v>322</c:v>
                </c:pt>
                <c:pt idx="3">
                  <c:v>210</c:v>
                </c:pt>
              </c:numCache>
            </c:numRef>
          </c:val>
          <c:extLst>
            <c:ext xmlns:c16="http://schemas.microsoft.com/office/drawing/2014/chart" uri="{C3380CC4-5D6E-409C-BE32-E72D297353CC}">
              <c16:uniqueId val="{00000008-45BD-4B15-A66A-36065CF7973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1967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0EA5E9"/>
          </a:solidFill>
          <a:ln/>
        </p:spPr>
        <p:txBody>
          <a:bodyPr/>
          <a:lstStyle/>
          <a:p>
            <a:endParaRPr lang="en-IN"/>
          </a:p>
        </p:txBody>
      </p:sp>
      <p:sp>
        <p:nvSpPr>
          <p:cNvPr id="3" name="Shape 1"/>
          <p:cNvSpPr/>
          <p:nvPr/>
        </p:nvSpPr>
        <p:spPr>
          <a:xfrm>
            <a:off x="7132320" y="-548640"/>
            <a:ext cx="2926080" cy="2926080"/>
          </a:xfrm>
          <a:prstGeom prst="ellipse">
            <a:avLst/>
          </a:prstGeom>
          <a:solidFill>
            <a:srgbClr val="1B3A6B"/>
          </a:solidFill>
          <a:ln w="25400">
            <a:solidFill>
              <a:srgbClr val="0EA5E9"/>
            </a:solidFill>
            <a:prstDash val="solid"/>
          </a:ln>
        </p:spPr>
        <p:txBody>
          <a:bodyPr/>
          <a:lstStyle/>
          <a:p>
            <a:endParaRPr lang="en-IN"/>
          </a:p>
        </p:txBody>
      </p:sp>
      <p:sp>
        <p:nvSpPr>
          <p:cNvPr id="4" name="Shape 2"/>
          <p:cNvSpPr/>
          <p:nvPr/>
        </p:nvSpPr>
        <p:spPr>
          <a:xfrm>
            <a:off x="7680960" y="2743200"/>
            <a:ext cx="1828800" cy="1828800"/>
          </a:xfrm>
          <a:prstGeom prst="ellipse">
            <a:avLst/>
          </a:prstGeom>
          <a:solidFill>
            <a:srgbClr val="0369A1">
              <a:alpha val="40000"/>
            </a:srgbClr>
          </a:solidFill>
          <a:ln w="12700">
            <a:solidFill>
              <a:srgbClr val="0EA5E9"/>
            </a:solidFill>
            <a:prstDash val="solid"/>
          </a:ln>
        </p:spPr>
        <p:txBody>
          <a:bodyPr/>
          <a:lstStyle/>
          <a:p>
            <a:endParaRPr lang="en-IN"/>
          </a:p>
        </p:txBody>
      </p:sp>
      <p:sp>
        <p:nvSpPr>
          <p:cNvPr id="5" name="Text 3"/>
          <p:cNvSpPr/>
          <p:nvPr/>
        </p:nvSpPr>
        <p:spPr>
          <a:xfrm>
            <a:off x="502920" y="365760"/>
            <a:ext cx="5486400" cy="365760"/>
          </a:xfrm>
          <a:prstGeom prst="rect">
            <a:avLst/>
          </a:prstGeom>
          <a:noFill/>
          <a:ln/>
        </p:spPr>
        <p:txBody>
          <a:bodyPr wrap="square" lIns="0" tIns="0" rIns="0" bIns="0" rtlCol="0" anchor="ctr"/>
          <a:lstStyle/>
          <a:p>
            <a:pPr marL="0" indent="0">
              <a:buNone/>
            </a:pPr>
            <a:r>
              <a:rPr lang="en-US" sz="1100" b="1" kern="0" spc="500" dirty="0">
                <a:solidFill>
                  <a:srgbClr val="0EA5E9"/>
                </a:solidFill>
                <a:latin typeface="Calibri" pitchFamily="34" charset="0"/>
                <a:ea typeface="Calibri" pitchFamily="34" charset="-122"/>
                <a:cs typeface="Calibri" pitchFamily="34" charset="-120"/>
              </a:rPr>
              <a:t>XYZ COMPANY</a:t>
            </a:r>
            <a:endParaRPr lang="en-US" sz="1100" dirty="0"/>
          </a:p>
        </p:txBody>
      </p:sp>
      <p:sp>
        <p:nvSpPr>
          <p:cNvPr id="6" name="Text 4"/>
          <p:cNvSpPr/>
          <p:nvPr/>
        </p:nvSpPr>
        <p:spPr>
          <a:xfrm>
            <a:off x="502920" y="868680"/>
            <a:ext cx="6858000" cy="1737360"/>
          </a:xfrm>
          <a:prstGeom prst="rect">
            <a:avLst/>
          </a:prstGeom>
          <a:noFill/>
          <a:ln/>
        </p:spPr>
        <p:txBody>
          <a:bodyPr wrap="square" lIns="0" tIns="0" rIns="0" bIns="0" rtlCol="0" anchor="ctr"/>
          <a:lstStyle/>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Regional Sales</a:t>
            </a:r>
            <a:endParaRPr lang="en-US" sz="5200" dirty="0"/>
          </a:p>
          <a:p>
            <a:pPr marL="0" indent="0">
              <a:lnSpc>
                <a:spcPct val="110000"/>
              </a:lnSpc>
              <a:buNone/>
            </a:pPr>
            <a:r>
              <a:rPr lang="en-US" sz="5200" b="1" dirty="0">
                <a:solidFill>
                  <a:srgbClr val="FFFFFF"/>
                </a:solidFill>
                <a:latin typeface="Calibri" pitchFamily="34" charset="0"/>
                <a:ea typeface="Calibri" pitchFamily="34" charset="-122"/>
                <a:cs typeface="Calibri" pitchFamily="34" charset="-120"/>
              </a:rPr>
              <a:t>Analysis</a:t>
            </a:r>
            <a:endParaRPr lang="en-US" sz="5200" dirty="0"/>
          </a:p>
        </p:txBody>
      </p:sp>
      <p:sp>
        <p:nvSpPr>
          <p:cNvPr id="7" name="Text 5"/>
          <p:cNvSpPr/>
          <p:nvPr/>
        </p:nvSpPr>
        <p:spPr>
          <a:xfrm>
            <a:off x="502920" y="2743200"/>
            <a:ext cx="6858000" cy="457200"/>
          </a:xfrm>
          <a:prstGeom prst="rect">
            <a:avLst/>
          </a:prstGeom>
          <a:noFill/>
          <a:ln/>
        </p:spPr>
        <p:txBody>
          <a:bodyPr wrap="square" lIns="0" tIns="0" rIns="0" bIns="0" rtlCol="0" anchor="ctr"/>
          <a:lstStyle/>
          <a:p>
            <a:pPr marL="0" indent="0">
              <a:buNone/>
            </a:pPr>
            <a:r>
              <a:rPr lang="en-US" sz="1500" dirty="0">
                <a:solidFill>
                  <a:srgbClr val="8FA8C8"/>
                </a:solidFill>
                <a:latin typeface="Calibri" pitchFamily="34" charset="0"/>
                <a:ea typeface="Calibri" pitchFamily="34" charset="-122"/>
                <a:cs typeface="Calibri" pitchFamily="34" charset="-120"/>
              </a:rPr>
              <a:t>Revenue, Profit &amp; Market Drivers  |  2014 – 2018</a:t>
            </a:r>
            <a:endParaRPr lang="en-US" sz="1500" dirty="0"/>
          </a:p>
        </p:txBody>
      </p:sp>
      <p:sp>
        <p:nvSpPr>
          <p:cNvPr id="8" name="Shape 6"/>
          <p:cNvSpPr/>
          <p:nvPr/>
        </p:nvSpPr>
        <p:spPr>
          <a:xfrm>
            <a:off x="502920" y="3429000"/>
            <a:ext cx="1920240" cy="123444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9" name="Shape 7"/>
          <p:cNvSpPr/>
          <p:nvPr/>
        </p:nvSpPr>
        <p:spPr>
          <a:xfrm>
            <a:off x="502920" y="3429000"/>
            <a:ext cx="54864" cy="1234440"/>
          </a:xfrm>
          <a:prstGeom prst="rect">
            <a:avLst/>
          </a:prstGeom>
          <a:solidFill>
            <a:srgbClr val="0EA5E9"/>
          </a:solidFill>
          <a:ln/>
        </p:spPr>
        <p:txBody>
          <a:bodyPr/>
          <a:lstStyle/>
          <a:p>
            <a:endParaRPr lang="en-IN"/>
          </a:p>
        </p:txBody>
      </p:sp>
      <p:sp>
        <p:nvSpPr>
          <p:cNvPr id="10" name="Text 8"/>
          <p:cNvSpPr/>
          <p:nvPr/>
        </p:nvSpPr>
        <p:spPr>
          <a:xfrm>
            <a:off x="640080" y="3493008"/>
            <a:ext cx="1737360" cy="548640"/>
          </a:xfrm>
          <a:prstGeom prst="rect">
            <a:avLst/>
          </a:prstGeom>
          <a:noFill/>
          <a:ln/>
        </p:spPr>
        <p:txBody>
          <a:bodyPr wrap="square" lIns="0" tIns="0" rIns="0" bIns="0" rtlCol="0" anchor="ctr"/>
          <a:lstStyle/>
          <a:p>
            <a:pPr marL="0" indent="0">
              <a:buNone/>
            </a:pPr>
            <a:r>
              <a:rPr lang="en-US" sz="2200" b="1" dirty="0">
                <a:solidFill>
                  <a:srgbClr val="0EA5E9"/>
                </a:solidFill>
                <a:latin typeface="Calibri" pitchFamily="34" charset="0"/>
                <a:ea typeface="Calibri" pitchFamily="34" charset="-122"/>
                <a:cs typeface="Calibri" pitchFamily="34" charset="-120"/>
              </a:rPr>
              <a:t>64,104</a:t>
            </a:r>
            <a:endParaRPr lang="en-US" sz="2200" dirty="0"/>
          </a:p>
        </p:txBody>
      </p:sp>
      <p:sp>
        <p:nvSpPr>
          <p:cNvPr id="11" name="Text 9"/>
          <p:cNvSpPr/>
          <p:nvPr/>
        </p:nvSpPr>
        <p:spPr>
          <a:xfrm>
            <a:off x="640080" y="4041648"/>
            <a:ext cx="1737360" cy="411480"/>
          </a:xfrm>
          <a:prstGeom prst="rect">
            <a:avLst/>
          </a:prstGeom>
          <a:noFill/>
          <a:ln/>
        </p:spPr>
        <p:txBody>
          <a:bodyPr wrap="square" lIns="0" tIns="0" rIns="0" bIns="0" rtlCol="0" anchor="ctr"/>
          <a:lstStyle/>
          <a:p>
            <a:pPr marL="0" indent="0">
              <a:buNone/>
            </a:pPr>
            <a:r>
              <a:rPr lang="en-US" sz="1000" dirty="0">
                <a:solidFill>
                  <a:srgbClr val="D1D9E8"/>
                </a:solidFill>
                <a:latin typeface="Calibri" pitchFamily="34" charset="0"/>
                <a:ea typeface="Calibri" pitchFamily="34" charset="-122"/>
                <a:cs typeface="Calibri" pitchFamily="34" charset="-120"/>
              </a:rPr>
              <a:t>Orders Analyzed</a:t>
            </a:r>
            <a:endParaRPr lang="en-US" sz="1000" dirty="0"/>
          </a:p>
        </p:txBody>
      </p:sp>
      <p:sp>
        <p:nvSpPr>
          <p:cNvPr id="12" name="Shape 10"/>
          <p:cNvSpPr/>
          <p:nvPr/>
        </p:nvSpPr>
        <p:spPr>
          <a:xfrm>
            <a:off x="2651760" y="3429000"/>
            <a:ext cx="1920240" cy="123444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3" name="Shape 11"/>
          <p:cNvSpPr/>
          <p:nvPr/>
        </p:nvSpPr>
        <p:spPr>
          <a:xfrm>
            <a:off x="2651760" y="3429000"/>
            <a:ext cx="54864" cy="1234440"/>
          </a:xfrm>
          <a:prstGeom prst="rect">
            <a:avLst/>
          </a:prstGeom>
          <a:solidFill>
            <a:srgbClr val="0EA5E9"/>
          </a:solidFill>
          <a:ln/>
        </p:spPr>
        <p:txBody>
          <a:bodyPr/>
          <a:lstStyle/>
          <a:p>
            <a:endParaRPr lang="en-IN"/>
          </a:p>
        </p:txBody>
      </p:sp>
      <p:sp>
        <p:nvSpPr>
          <p:cNvPr id="14" name="Text 12"/>
          <p:cNvSpPr/>
          <p:nvPr/>
        </p:nvSpPr>
        <p:spPr>
          <a:xfrm>
            <a:off x="2788920" y="3493008"/>
            <a:ext cx="1737360" cy="548640"/>
          </a:xfrm>
          <a:prstGeom prst="rect">
            <a:avLst/>
          </a:prstGeom>
          <a:noFill/>
          <a:ln/>
        </p:spPr>
        <p:txBody>
          <a:bodyPr wrap="square" lIns="0" tIns="0" rIns="0" bIns="0" rtlCol="0" anchor="ctr"/>
          <a:lstStyle/>
          <a:p>
            <a:pPr marL="0" indent="0">
              <a:buNone/>
            </a:pPr>
            <a:r>
              <a:rPr lang="en-US" sz="2200" b="1" dirty="0">
                <a:solidFill>
                  <a:srgbClr val="0EA5E9"/>
                </a:solidFill>
                <a:latin typeface="Calibri" pitchFamily="34" charset="0"/>
                <a:ea typeface="Calibri" pitchFamily="34" charset="-122"/>
                <a:cs typeface="Calibri" pitchFamily="34" charset="-120"/>
              </a:rPr>
              <a:t>30</a:t>
            </a:r>
            <a:endParaRPr lang="en-US" sz="2200" dirty="0"/>
          </a:p>
        </p:txBody>
      </p:sp>
      <p:sp>
        <p:nvSpPr>
          <p:cNvPr id="15" name="Text 13"/>
          <p:cNvSpPr/>
          <p:nvPr/>
        </p:nvSpPr>
        <p:spPr>
          <a:xfrm>
            <a:off x="2788920" y="4041648"/>
            <a:ext cx="1737360" cy="411480"/>
          </a:xfrm>
          <a:prstGeom prst="rect">
            <a:avLst/>
          </a:prstGeom>
          <a:noFill/>
          <a:ln/>
        </p:spPr>
        <p:txBody>
          <a:bodyPr wrap="square" lIns="0" tIns="0" rIns="0" bIns="0" rtlCol="0" anchor="ctr"/>
          <a:lstStyle/>
          <a:p>
            <a:pPr marL="0" indent="0">
              <a:buNone/>
            </a:pPr>
            <a:r>
              <a:rPr lang="en-US" sz="1000" dirty="0">
                <a:solidFill>
                  <a:srgbClr val="D1D9E8"/>
                </a:solidFill>
                <a:latin typeface="Calibri" pitchFamily="34" charset="0"/>
                <a:ea typeface="Calibri" pitchFamily="34" charset="-122"/>
                <a:cs typeface="Calibri" pitchFamily="34" charset="-120"/>
              </a:rPr>
              <a:t>Products</a:t>
            </a:r>
            <a:endParaRPr lang="en-US" sz="1000" dirty="0"/>
          </a:p>
        </p:txBody>
      </p:sp>
      <p:sp>
        <p:nvSpPr>
          <p:cNvPr id="16" name="Shape 14"/>
          <p:cNvSpPr/>
          <p:nvPr/>
        </p:nvSpPr>
        <p:spPr>
          <a:xfrm>
            <a:off x="4800600" y="3429000"/>
            <a:ext cx="1920240" cy="123444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7" name="Shape 15"/>
          <p:cNvSpPr/>
          <p:nvPr/>
        </p:nvSpPr>
        <p:spPr>
          <a:xfrm>
            <a:off x="4800600" y="3429000"/>
            <a:ext cx="54864" cy="1234440"/>
          </a:xfrm>
          <a:prstGeom prst="rect">
            <a:avLst/>
          </a:prstGeom>
          <a:solidFill>
            <a:srgbClr val="0EA5E9"/>
          </a:solidFill>
          <a:ln/>
        </p:spPr>
        <p:txBody>
          <a:bodyPr/>
          <a:lstStyle/>
          <a:p>
            <a:endParaRPr lang="en-IN"/>
          </a:p>
        </p:txBody>
      </p:sp>
      <p:sp>
        <p:nvSpPr>
          <p:cNvPr id="18" name="Text 16"/>
          <p:cNvSpPr/>
          <p:nvPr/>
        </p:nvSpPr>
        <p:spPr>
          <a:xfrm>
            <a:off x="4937760" y="3493008"/>
            <a:ext cx="1737360" cy="548640"/>
          </a:xfrm>
          <a:prstGeom prst="rect">
            <a:avLst/>
          </a:prstGeom>
          <a:noFill/>
          <a:ln/>
        </p:spPr>
        <p:txBody>
          <a:bodyPr wrap="square" lIns="0" tIns="0" rIns="0" bIns="0" rtlCol="0" anchor="ctr"/>
          <a:lstStyle/>
          <a:p>
            <a:pPr marL="0" indent="0">
              <a:buNone/>
            </a:pPr>
            <a:r>
              <a:rPr lang="en-US" sz="2200" b="1" dirty="0">
                <a:solidFill>
                  <a:srgbClr val="0EA5E9"/>
                </a:solidFill>
                <a:latin typeface="Calibri" pitchFamily="34" charset="0"/>
                <a:ea typeface="Calibri" pitchFamily="34" charset="-122"/>
                <a:cs typeface="Calibri" pitchFamily="34" charset="-120"/>
              </a:rPr>
              <a:t>$1.2B+</a:t>
            </a:r>
            <a:endParaRPr lang="en-US" sz="2200" dirty="0"/>
          </a:p>
        </p:txBody>
      </p:sp>
      <p:sp>
        <p:nvSpPr>
          <p:cNvPr id="19" name="Text 17"/>
          <p:cNvSpPr/>
          <p:nvPr/>
        </p:nvSpPr>
        <p:spPr>
          <a:xfrm>
            <a:off x="4937760" y="4041648"/>
            <a:ext cx="1737360" cy="411480"/>
          </a:xfrm>
          <a:prstGeom prst="rect">
            <a:avLst/>
          </a:prstGeom>
          <a:noFill/>
          <a:ln/>
        </p:spPr>
        <p:txBody>
          <a:bodyPr wrap="square" lIns="0" tIns="0" rIns="0" bIns="0" rtlCol="0" anchor="ctr"/>
          <a:lstStyle/>
          <a:p>
            <a:pPr marL="0" indent="0">
              <a:buNone/>
            </a:pPr>
            <a:r>
              <a:rPr lang="en-US" sz="1000" dirty="0">
                <a:solidFill>
                  <a:srgbClr val="D1D9E8"/>
                </a:solidFill>
                <a:latin typeface="Calibri" pitchFamily="34" charset="0"/>
                <a:ea typeface="Calibri" pitchFamily="34" charset="-122"/>
                <a:cs typeface="Calibri" pitchFamily="34" charset="-120"/>
              </a:rPr>
              <a:t>Total Revenue</a:t>
            </a:r>
            <a:endParaRPr lang="en-US" sz="1000" dirty="0"/>
          </a:p>
        </p:txBody>
      </p:sp>
      <p:sp>
        <p:nvSpPr>
          <p:cNvPr id="20" name="Shape 18"/>
          <p:cNvSpPr/>
          <p:nvPr/>
        </p:nvSpPr>
        <p:spPr>
          <a:xfrm>
            <a:off x="6949440" y="3429000"/>
            <a:ext cx="1920240" cy="123444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21" name="Shape 19"/>
          <p:cNvSpPr/>
          <p:nvPr/>
        </p:nvSpPr>
        <p:spPr>
          <a:xfrm>
            <a:off x="6949440" y="3429000"/>
            <a:ext cx="54864" cy="1234440"/>
          </a:xfrm>
          <a:prstGeom prst="rect">
            <a:avLst/>
          </a:prstGeom>
          <a:solidFill>
            <a:srgbClr val="0EA5E9"/>
          </a:solidFill>
          <a:ln/>
        </p:spPr>
        <p:txBody>
          <a:bodyPr/>
          <a:lstStyle/>
          <a:p>
            <a:endParaRPr lang="en-IN"/>
          </a:p>
        </p:txBody>
      </p:sp>
      <p:sp>
        <p:nvSpPr>
          <p:cNvPr id="22" name="Text 20"/>
          <p:cNvSpPr/>
          <p:nvPr/>
        </p:nvSpPr>
        <p:spPr>
          <a:xfrm>
            <a:off x="7086600" y="3493008"/>
            <a:ext cx="1737360" cy="548640"/>
          </a:xfrm>
          <a:prstGeom prst="rect">
            <a:avLst/>
          </a:prstGeom>
          <a:noFill/>
          <a:ln/>
        </p:spPr>
        <p:txBody>
          <a:bodyPr wrap="square" lIns="0" tIns="0" rIns="0" bIns="0" rtlCol="0" anchor="ctr"/>
          <a:lstStyle/>
          <a:p>
            <a:pPr marL="0" indent="0">
              <a:buNone/>
            </a:pPr>
            <a:r>
              <a:rPr lang="en-US" sz="2200" b="1" dirty="0">
                <a:solidFill>
                  <a:srgbClr val="0EA5E9"/>
                </a:solidFill>
                <a:latin typeface="Calibri" pitchFamily="34" charset="0"/>
                <a:ea typeface="Calibri" pitchFamily="34" charset="-122"/>
                <a:cs typeface="Calibri" pitchFamily="34" charset="-120"/>
              </a:rPr>
              <a:t>4 Regions</a:t>
            </a:r>
            <a:endParaRPr lang="en-US" sz="2200" dirty="0"/>
          </a:p>
        </p:txBody>
      </p:sp>
      <p:sp>
        <p:nvSpPr>
          <p:cNvPr id="23" name="Text 21"/>
          <p:cNvSpPr/>
          <p:nvPr/>
        </p:nvSpPr>
        <p:spPr>
          <a:xfrm>
            <a:off x="7086600" y="4041648"/>
            <a:ext cx="1737360" cy="411480"/>
          </a:xfrm>
          <a:prstGeom prst="rect">
            <a:avLst/>
          </a:prstGeom>
          <a:noFill/>
          <a:ln/>
        </p:spPr>
        <p:txBody>
          <a:bodyPr wrap="square" lIns="0" tIns="0" rIns="0" bIns="0" rtlCol="0" anchor="ctr"/>
          <a:lstStyle/>
          <a:p>
            <a:pPr marL="0" indent="0">
              <a:buNone/>
            </a:pPr>
            <a:r>
              <a:rPr lang="en-US" sz="1000" dirty="0">
                <a:solidFill>
                  <a:srgbClr val="D1D9E8"/>
                </a:solidFill>
                <a:latin typeface="Calibri" pitchFamily="34" charset="0"/>
                <a:ea typeface="Calibri" pitchFamily="34" charset="-122"/>
                <a:cs typeface="Calibri" pitchFamily="34" charset="-120"/>
              </a:rPr>
              <a:t>US Coverage</a:t>
            </a:r>
            <a:endParaRPr lang="en-US" sz="1000" dirty="0"/>
          </a:p>
        </p:txBody>
      </p:sp>
      <p:sp>
        <p:nvSpPr>
          <p:cNvPr id="24" name="Text 22"/>
          <p:cNvSpPr/>
          <p:nvPr/>
        </p:nvSpPr>
        <p:spPr>
          <a:xfrm>
            <a:off x="502920" y="4800600"/>
            <a:ext cx="4572000" cy="228600"/>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Prepared by Data Analytics Team</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91440"/>
            <a:ext cx="8229600" cy="777240"/>
          </a:xfrm>
          <a:prstGeom prst="rect">
            <a:avLst/>
          </a:prstGeom>
          <a:noFill/>
          <a:ln/>
        </p:spPr>
        <p:txBody>
          <a:bodyPr wrap="square" lIns="0" tIns="0" rIns="0" bIns="0" rtlCol="0" anchor="ctr"/>
          <a:lstStyle/>
          <a:p>
            <a:pPr marL="0" indent="0">
              <a:buNone/>
            </a:pPr>
            <a:r>
              <a:rPr lang="en-US" sz="3200" b="1" kern="0" spc="300" dirty="0">
                <a:solidFill>
                  <a:srgbClr val="FFFFFF"/>
                </a:solidFill>
                <a:latin typeface="Calibri" pitchFamily="34" charset="0"/>
                <a:ea typeface="Calibri" pitchFamily="34" charset="-122"/>
                <a:cs typeface="Calibri" pitchFamily="34" charset="-120"/>
              </a:rPr>
              <a:t>AGENDA</a:t>
            </a:r>
            <a:endParaRPr lang="en-US" sz="3200" dirty="0"/>
          </a:p>
        </p:txBody>
      </p:sp>
      <p:sp>
        <p:nvSpPr>
          <p:cNvPr id="4" name="Shape 2"/>
          <p:cNvSpPr/>
          <p:nvPr/>
        </p:nvSpPr>
        <p:spPr>
          <a:xfrm>
            <a:off x="0" y="960120"/>
            <a:ext cx="9144000" cy="54864"/>
          </a:xfrm>
          <a:prstGeom prst="rect">
            <a:avLst/>
          </a:prstGeom>
          <a:solidFill>
            <a:srgbClr val="0EA5E9"/>
          </a:solidFill>
          <a:ln/>
        </p:spPr>
        <p:txBody>
          <a:bodyPr/>
          <a:lstStyle/>
          <a:p>
            <a:endParaRPr lang="en-IN"/>
          </a:p>
        </p:txBody>
      </p:sp>
      <p:sp>
        <p:nvSpPr>
          <p:cNvPr id="5" name="Shape 3"/>
          <p:cNvSpPr/>
          <p:nvPr/>
        </p:nvSpPr>
        <p:spPr>
          <a:xfrm>
            <a:off x="365760" y="1234440"/>
            <a:ext cx="502920" cy="502920"/>
          </a:xfrm>
          <a:prstGeom prst="ellipse">
            <a:avLst/>
          </a:prstGeom>
          <a:solidFill>
            <a:srgbClr val="0EA5E9"/>
          </a:solidFill>
          <a:ln/>
        </p:spPr>
        <p:txBody>
          <a:bodyPr/>
          <a:lstStyle/>
          <a:p>
            <a:endParaRPr lang="en-IN"/>
          </a:p>
        </p:txBody>
      </p:sp>
      <p:sp>
        <p:nvSpPr>
          <p:cNvPr id="6" name="Text 4"/>
          <p:cNvSpPr/>
          <p:nvPr/>
        </p:nvSpPr>
        <p:spPr>
          <a:xfrm>
            <a:off x="365760" y="12344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7" name="Text 5"/>
          <p:cNvSpPr/>
          <p:nvPr/>
        </p:nvSpPr>
        <p:spPr>
          <a:xfrm>
            <a:off x="1005840" y="11887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Project Overview</a:t>
            </a:r>
            <a:endParaRPr lang="en-US" sz="1400" dirty="0"/>
          </a:p>
        </p:txBody>
      </p:sp>
      <p:sp>
        <p:nvSpPr>
          <p:cNvPr id="8" name="Text 6"/>
          <p:cNvSpPr/>
          <p:nvPr/>
        </p:nvSpPr>
        <p:spPr>
          <a:xfrm>
            <a:off x="1005840" y="15361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Problem statement, data sources &amp; methodology</a:t>
            </a:r>
            <a:endParaRPr lang="en-US" sz="1000" dirty="0"/>
          </a:p>
        </p:txBody>
      </p:sp>
      <p:sp>
        <p:nvSpPr>
          <p:cNvPr id="9" name="Shape 7"/>
          <p:cNvSpPr/>
          <p:nvPr/>
        </p:nvSpPr>
        <p:spPr>
          <a:xfrm>
            <a:off x="365760" y="2148840"/>
            <a:ext cx="502920" cy="502920"/>
          </a:xfrm>
          <a:prstGeom prst="ellipse">
            <a:avLst/>
          </a:prstGeom>
          <a:solidFill>
            <a:srgbClr val="0EA5E9"/>
          </a:solidFill>
          <a:ln/>
        </p:spPr>
        <p:txBody>
          <a:bodyPr/>
          <a:lstStyle/>
          <a:p>
            <a:endParaRPr lang="en-IN"/>
          </a:p>
        </p:txBody>
      </p:sp>
      <p:sp>
        <p:nvSpPr>
          <p:cNvPr id="10" name="Text 8"/>
          <p:cNvSpPr/>
          <p:nvPr/>
        </p:nvSpPr>
        <p:spPr>
          <a:xfrm>
            <a:off x="365760" y="21488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1" name="Text 9"/>
          <p:cNvSpPr/>
          <p:nvPr/>
        </p:nvSpPr>
        <p:spPr>
          <a:xfrm>
            <a:off x="1005840" y="21031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Data Cleaning &amp; Quality</a:t>
            </a:r>
            <a:endParaRPr lang="en-US" sz="1400" dirty="0"/>
          </a:p>
        </p:txBody>
      </p:sp>
      <p:sp>
        <p:nvSpPr>
          <p:cNvPr id="12" name="Text 10"/>
          <p:cNvSpPr/>
          <p:nvPr/>
        </p:nvSpPr>
        <p:spPr>
          <a:xfrm>
            <a:off x="1005840" y="24505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6 datasets, 64 K records — zero nulls, zero duplicates</a:t>
            </a:r>
            <a:endParaRPr lang="en-US" sz="1000" dirty="0"/>
          </a:p>
        </p:txBody>
      </p:sp>
      <p:sp>
        <p:nvSpPr>
          <p:cNvPr id="13" name="Shape 11"/>
          <p:cNvSpPr/>
          <p:nvPr/>
        </p:nvSpPr>
        <p:spPr>
          <a:xfrm>
            <a:off x="365760" y="3063240"/>
            <a:ext cx="502920" cy="502920"/>
          </a:xfrm>
          <a:prstGeom prst="ellipse">
            <a:avLst/>
          </a:prstGeom>
          <a:solidFill>
            <a:srgbClr val="0EA5E9"/>
          </a:solidFill>
          <a:ln/>
        </p:spPr>
        <p:txBody>
          <a:bodyPr/>
          <a:lstStyle/>
          <a:p>
            <a:endParaRPr lang="en-IN"/>
          </a:p>
        </p:txBody>
      </p:sp>
      <p:sp>
        <p:nvSpPr>
          <p:cNvPr id="14" name="Text 12"/>
          <p:cNvSpPr/>
          <p:nvPr/>
        </p:nvSpPr>
        <p:spPr>
          <a:xfrm>
            <a:off x="365760" y="30632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5" name="Text 13"/>
          <p:cNvSpPr/>
          <p:nvPr/>
        </p:nvSpPr>
        <p:spPr>
          <a:xfrm>
            <a:off x="1005840" y="30175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Monthly Revenue Trends</a:t>
            </a:r>
            <a:endParaRPr lang="en-US" sz="1400" dirty="0"/>
          </a:p>
        </p:txBody>
      </p:sp>
      <p:sp>
        <p:nvSpPr>
          <p:cNvPr id="16" name="Text 14"/>
          <p:cNvSpPr/>
          <p:nvPr/>
        </p:nvSpPr>
        <p:spPr>
          <a:xfrm>
            <a:off x="1005840" y="33649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Seasonality patterns, anomalies &amp; year-over-year view</a:t>
            </a:r>
            <a:endParaRPr lang="en-US" sz="1000" dirty="0"/>
          </a:p>
        </p:txBody>
      </p:sp>
      <p:sp>
        <p:nvSpPr>
          <p:cNvPr id="17" name="Shape 15"/>
          <p:cNvSpPr/>
          <p:nvPr/>
        </p:nvSpPr>
        <p:spPr>
          <a:xfrm>
            <a:off x="365760" y="3977640"/>
            <a:ext cx="502920" cy="502920"/>
          </a:xfrm>
          <a:prstGeom prst="ellipse">
            <a:avLst/>
          </a:prstGeom>
          <a:solidFill>
            <a:srgbClr val="0EA5E9"/>
          </a:solidFill>
          <a:ln/>
        </p:spPr>
        <p:txBody>
          <a:bodyPr/>
          <a:lstStyle/>
          <a:p>
            <a:endParaRPr lang="en-IN"/>
          </a:p>
        </p:txBody>
      </p:sp>
      <p:sp>
        <p:nvSpPr>
          <p:cNvPr id="18" name="Text 16"/>
          <p:cNvSpPr/>
          <p:nvPr/>
        </p:nvSpPr>
        <p:spPr>
          <a:xfrm>
            <a:off x="365760" y="39776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19" name="Text 17"/>
          <p:cNvSpPr/>
          <p:nvPr/>
        </p:nvSpPr>
        <p:spPr>
          <a:xfrm>
            <a:off x="1005840" y="39319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Product Performance</a:t>
            </a:r>
            <a:endParaRPr lang="en-US" sz="1400" dirty="0"/>
          </a:p>
        </p:txBody>
      </p:sp>
      <p:sp>
        <p:nvSpPr>
          <p:cNvPr id="20" name="Text 18"/>
          <p:cNvSpPr/>
          <p:nvPr/>
        </p:nvSpPr>
        <p:spPr>
          <a:xfrm>
            <a:off x="1005840" y="42793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Top 10 by revenue &amp; profit margin analysis</a:t>
            </a:r>
            <a:endParaRPr lang="en-US" sz="1000" dirty="0"/>
          </a:p>
        </p:txBody>
      </p:sp>
      <p:sp>
        <p:nvSpPr>
          <p:cNvPr id="21" name="Shape 19"/>
          <p:cNvSpPr/>
          <p:nvPr/>
        </p:nvSpPr>
        <p:spPr>
          <a:xfrm>
            <a:off x="4754880" y="1234440"/>
            <a:ext cx="502920" cy="502920"/>
          </a:xfrm>
          <a:prstGeom prst="ellipse">
            <a:avLst/>
          </a:prstGeom>
          <a:solidFill>
            <a:srgbClr val="0EA5E9"/>
          </a:solidFill>
          <a:ln/>
        </p:spPr>
        <p:txBody>
          <a:bodyPr/>
          <a:lstStyle/>
          <a:p>
            <a:endParaRPr lang="en-IN"/>
          </a:p>
        </p:txBody>
      </p:sp>
      <p:sp>
        <p:nvSpPr>
          <p:cNvPr id="22" name="Text 20"/>
          <p:cNvSpPr/>
          <p:nvPr/>
        </p:nvSpPr>
        <p:spPr>
          <a:xfrm>
            <a:off x="4754880" y="12344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3" name="Text 21"/>
          <p:cNvSpPr/>
          <p:nvPr/>
        </p:nvSpPr>
        <p:spPr>
          <a:xfrm>
            <a:off x="5394960" y="11887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Channel &amp; Pricing Analysis</a:t>
            </a:r>
            <a:endParaRPr lang="en-US" sz="1400" dirty="0"/>
          </a:p>
        </p:txBody>
      </p:sp>
      <p:sp>
        <p:nvSpPr>
          <p:cNvPr id="24" name="Text 22"/>
          <p:cNvSpPr/>
          <p:nvPr/>
        </p:nvSpPr>
        <p:spPr>
          <a:xfrm>
            <a:off x="5394960" y="15361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Wholesale vs. Distributor vs. Export; price distribution</a:t>
            </a:r>
            <a:endParaRPr lang="en-US" sz="1000" dirty="0"/>
          </a:p>
        </p:txBody>
      </p:sp>
      <p:sp>
        <p:nvSpPr>
          <p:cNvPr id="25" name="Shape 23"/>
          <p:cNvSpPr/>
          <p:nvPr/>
        </p:nvSpPr>
        <p:spPr>
          <a:xfrm>
            <a:off x="4754880" y="2148840"/>
            <a:ext cx="502920" cy="502920"/>
          </a:xfrm>
          <a:prstGeom prst="ellipse">
            <a:avLst/>
          </a:prstGeom>
          <a:solidFill>
            <a:srgbClr val="0EA5E9"/>
          </a:solidFill>
          <a:ln/>
        </p:spPr>
        <p:txBody>
          <a:bodyPr/>
          <a:lstStyle/>
          <a:p>
            <a:endParaRPr lang="en-IN"/>
          </a:p>
        </p:txBody>
      </p:sp>
      <p:sp>
        <p:nvSpPr>
          <p:cNvPr id="26" name="Text 24"/>
          <p:cNvSpPr/>
          <p:nvPr/>
        </p:nvSpPr>
        <p:spPr>
          <a:xfrm>
            <a:off x="4754880" y="21488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27" name="Text 25"/>
          <p:cNvSpPr/>
          <p:nvPr/>
        </p:nvSpPr>
        <p:spPr>
          <a:xfrm>
            <a:off x="5394960" y="21031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Regional Deep Dive</a:t>
            </a:r>
            <a:endParaRPr lang="en-US" sz="1400" dirty="0"/>
          </a:p>
        </p:txBody>
      </p:sp>
      <p:sp>
        <p:nvSpPr>
          <p:cNvPr id="28" name="Text 26"/>
          <p:cNvSpPr/>
          <p:nvPr/>
        </p:nvSpPr>
        <p:spPr>
          <a:xfrm>
            <a:off x="5394960" y="24505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US region rankings &amp; state-level revenue map</a:t>
            </a:r>
            <a:endParaRPr lang="en-US" sz="1000" dirty="0"/>
          </a:p>
        </p:txBody>
      </p:sp>
      <p:sp>
        <p:nvSpPr>
          <p:cNvPr id="29" name="Shape 27"/>
          <p:cNvSpPr/>
          <p:nvPr/>
        </p:nvSpPr>
        <p:spPr>
          <a:xfrm>
            <a:off x="4754880" y="3063240"/>
            <a:ext cx="502920" cy="502920"/>
          </a:xfrm>
          <a:prstGeom prst="ellipse">
            <a:avLst/>
          </a:prstGeom>
          <a:solidFill>
            <a:srgbClr val="0EA5E9"/>
          </a:solidFill>
          <a:ln/>
        </p:spPr>
        <p:txBody>
          <a:bodyPr/>
          <a:lstStyle/>
          <a:p>
            <a:endParaRPr lang="en-IN"/>
          </a:p>
        </p:txBody>
      </p:sp>
      <p:sp>
        <p:nvSpPr>
          <p:cNvPr id="30" name="Text 28"/>
          <p:cNvSpPr/>
          <p:nvPr/>
        </p:nvSpPr>
        <p:spPr>
          <a:xfrm>
            <a:off x="4754880" y="30632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1" name="Text 29"/>
          <p:cNvSpPr/>
          <p:nvPr/>
        </p:nvSpPr>
        <p:spPr>
          <a:xfrm>
            <a:off x="5394960" y="3017520"/>
            <a:ext cx="3657600" cy="347472"/>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Key Insights &amp; Recommendations</a:t>
            </a:r>
            <a:endParaRPr lang="en-US" sz="1400" dirty="0"/>
          </a:p>
        </p:txBody>
      </p:sp>
      <p:sp>
        <p:nvSpPr>
          <p:cNvPr id="32" name="Text 30"/>
          <p:cNvSpPr/>
          <p:nvPr/>
        </p:nvSpPr>
        <p:spPr>
          <a:xfrm>
            <a:off x="5394960" y="3364992"/>
            <a:ext cx="3657600" cy="411480"/>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Strategic actions for sustainable growth</a:t>
            </a:r>
            <a:endParaRPr lang="en-US" sz="1000" dirty="0"/>
          </a:p>
        </p:txBody>
      </p:sp>
      <p:sp>
        <p:nvSpPr>
          <p:cNvPr id="33" name="Shape 31"/>
          <p:cNvSpPr/>
          <p:nvPr/>
        </p:nvSpPr>
        <p:spPr>
          <a:xfrm>
            <a:off x="4572000" y="1188720"/>
            <a:ext cx="0" cy="3749040"/>
          </a:xfrm>
          <a:prstGeom prst="line">
            <a:avLst/>
          </a:prstGeom>
          <a:noFill/>
          <a:ln w="12700">
            <a:solidFill>
              <a:srgbClr val="D1D9E8"/>
            </a:solidFill>
            <a:prstDash val="solid"/>
          </a:ln>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B3A6B"/>
          </a:solidFill>
          <a:ln/>
        </p:spPr>
        <p:txBody>
          <a:bodyPr/>
          <a:lstStyle/>
          <a:p>
            <a:endParaRPr lang="en-IN"/>
          </a:p>
        </p:txBody>
      </p:sp>
      <p:sp>
        <p:nvSpPr>
          <p:cNvPr id="3" name="Text 1"/>
          <p:cNvSpPr/>
          <p:nvPr/>
        </p:nvSpPr>
        <p:spPr>
          <a:xfrm>
            <a:off x="457200" y="137160"/>
            <a:ext cx="8229600" cy="731520"/>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PROJECT OVERVIEW</a:t>
            </a:r>
            <a:endParaRPr lang="en-US" sz="2800" dirty="0"/>
          </a:p>
        </p:txBody>
      </p:sp>
      <p:sp>
        <p:nvSpPr>
          <p:cNvPr id="4" name="Shape 2"/>
          <p:cNvSpPr/>
          <p:nvPr/>
        </p:nvSpPr>
        <p:spPr>
          <a:xfrm>
            <a:off x="0" y="1005840"/>
            <a:ext cx="9144000" cy="45720"/>
          </a:xfrm>
          <a:prstGeom prst="rect">
            <a:avLst/>
          </a:prstGeom>
          <a:solidFill>
            <a:srgbClr val="0EA5E9"/>
          </a:solidFill>
          <a:ln/>
        </p:spPr>
        <p:txBody>
          <a:bodyPr/>
          <a:lstStyle/>
          <a:p>
            <a:endParaRPr lang="en-IN"/>
          </a:p>
        </p:txBody>
      </p:sp>
      <p:sp>
        <p:nvSpPr>
          <p:cNvPr id="5" name="Shape 3"/>
          <p:cNvSpPr/>
          <p:nvPr/>
        </p:nvSpPr>
        <p:spPr>
          <a:xfrm>
            <a:off x="365760" y="1170432"/>
            <a:ext cx="8412480" cy="137160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6" name="Shape 4"/>
          <p:cNvSpPr/>
          <p:nvPr/>
        </p:nvSpPr>
        <p:spPr>
          <a:xfrm>
            <a:off x="365760" y="1170432"/>
            <a:ext cx="73152" cy="1371600"/>
          </a:xfrm>
          <a:prstGeom prst="rect">
            <a:avLst/>
          </a:prstGeom>
          <a:solidFill>
            <a:srgbClr val="0EA5E9"/>
          </a:solidFill>
          <a:ln/>
        </p:spPr>
        <p:txBody>
          <a:bodyPr/>
          <a:lstStyle/>
          <a:p>
            <a:endParaRPr lang="en-IN"/>
          </a:p>
        </p:txBody>
      </p:sp>
      <p:sp>
        <p:nvSpPr>
          <p:cNvPr id="7" name="Text 5"/>
          <p:cNvSpPr/>
          <p:nvPr/>
        </p:nvSpPr>
        <p:spPr>
          <a:xfrm>
            <a:off x="548640" y="1234440"/>
            <a:ext cx="8046720" cy="320040"/>
          </a:xfrm>
          <a:prstGeom prst="rect">
            <a:avLst/>
          </a:prstGeom>
          <a:noFill/>
          <a:ln/>
        </p:spPr>
        <p:txBody>
          <a:bodyPr wrap="square" lIns="0" tIns="0" rIns="0" bIns="0"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Problem Statement</a:t>
            </a:r>
            <a:endParaRPr lang="en-US" sz="1300" dirty="0"/>
          </a:p>
        </p:txBody>
      </p:sp>
      <p:sp>
        <p:nvSpPr>
          <p:cNvPr id="8" name="Text 6"/>
          <p:cNvSpPr/>
          <p:nvPr/>
        </p:nvSpPr>
        <p:spPr>
          <a:xfrm>
            <a:off x="548640" y="1572768"/>
            <a:ext cx="8046720" cy="914400"/>
          </a:xfrm>
          <a:prstGeom prst="rect">
            <a:avLst/>
          </a:prstGeom>
          <a:noFill/>
          <a:ln/>
        </p:spPr>
        <p:txBody>
          <a:bodyPr wrap="square" lIns="0" tIns="0" rIns="0" bIns="0" rtlCol="0" anchor="ctr"/>
          <a:lstStyle/>
          <a:p>
            <a:pPr marL="0" indent="0">
              <a:lnSpc>
                <a:spcPct val="130000"/>
              </a:lnSpc>
              <a:buNone/>
            </a:pPr>
            <a:r>
              <a:rPr lang="en-US" sz="1200" dirty="0">
                <a:solidFill>
                  <a:srgbClr val="D1D9E8"/>
                </a:solidFill>
                <a:latin typeface="Calibri" pitchFamily="34" charset="0"/>
                <a:ea typeface="Calibri" pitchFamily="34" charset="-122"/>
                <a:cs typeface="Calibri" pitchFamily="34" charset="-120"/>
              </a:rPr>
              <a:t>Analyze XYZ Company's 2014–2018 sales data to identify key revenue and profit drivers across products, channels, and regions. Uncover seasonal trends and outliers, align performance against budgets, and use insights to optimize pricing, promotions, and market expansion for sustainable growth and reduced concentration risk.</a:t>
            </a:r>
            <a:endParaRPr lang="en-US" sz="1200" dirty="0"/>
          </a:p>
        </p:txBody>
      </p:sp>
      <p:sp>
        <p:nvSpPr>
          <p:cNvPr id="9" name="Shape 7"/>
          <p:cNvSpPr/>
          <p:nvPr/>
        </p:nvSpPr>
        <p:spPr>
          <a:xfrm>
            <a:off x="365760" y="2743200"/>
            <a:ext cx="2651760" cy="210312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0" name="Text 8"/>
          <p:cNvSpPr/>
          <p:nvPr/>
        </p:nvSpPr>
        <p:spPr>
          <a:xfrm>
            <a:off x="365760" y="2834640"/>
            <a:ext cx="2651760" cy="50292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1" name="Text 9"/>
          <p:cNvSpPr/>
          <p:nvPr/>
        </p:nvSpPr>
        <p:spPr>
          <a:xfrm>
            <a:off x="365760" y="3383280"/>
            <a:ext cx="2651760" cy="365760"/>
          </a:xfrm>
          <a:prstGeom prst="rect">
            <a:avLst/>
          </a:prstGeom>
          <a:noFill/>
          <a:ln/>
        </p:spPr>
        <p:txBody>
          <a:bodyPr wrap="square" lIns="0" tIns="0" rIns="0" bIns="0" rtlCol="0" anchor="ctr"/>
          <a:lstStyle/>
          <a:p>
            <a:pPr marL="0" indent="0" algn="ctr">
              <a:buNone/>
            </a:pPr>
            <a:r>
              <a:rPr lang="en-US" sz="1300" b="1" dirty="0">
                <a:solidFill>
                  <a:srgbClr val="0EA5E9"/>
                </a:solidFill>
                <a:latin typeface="Calibri" pitchFamily="34" charset="0"/>
                <a:ea typeface="Calibri" pitchFamily="34" charset="-122"/>
                <a:cs typeface="Calibri" pitchFamily="34" charset="-120"/>
              </a:rPr>
              <a:t>Revenue Drivers</a:t>
            </a:r>
            <a:endParaRPr lang="en-US" sz="1300" dirty="0"/>
          </a:p>
        </p:txBody>
      </p:sp>
      <p:sp>
        <p:nvSpPr>
          <p:cNvPr id="12" name="Text 10"/>
          <p:cNvSpPr/>
          <p:nvPr/>
        </p:nvSpPr>
        <p:spPr>
          <a:xfrm>
            <a:off x="502920" y="3767328"/>
            <a:ext cx="2377440" cy="868680"/>
          </a:xfrm>
          <a:prstGeom prst="rect">
            <a:avLst/>
          </a:prstGeom>
          <a:noFill/>
          <a:ln/>
        </p:spPr>
        <p:txBody>
          <a:bodyPr wrap="square" lIns="0" tIns="0" rIns="0" bIns="0" rtlCol="0" anchor="ctr"/>
          <a:lstStyle/>
          <a:p>
            <a:pPr marL="0" indent="0" algn="ctr">
              <a:lnSpc>
                <a:spcPct val="130000"/>
              </a:lnSpc>
              <a:buNone/>
            </a:pPr>
            <a:r>
              <a:rPr lang="en-US" sz="1050" dirty="0">
                <a:solidFill>
                  <a:srgbClr val="D1D9E8"/>
                </a:solidFill>
                <a:latin typeface="Calibri" pitchFamily="34" charset="0"/>
                <a:ea typeface="Calibri" pitchFamily="34" charset="-122"/>
                <a:cs typeface="Calibri" pitchFamily="34" charset="-120"/>
              </a:rPr>
              <a:t>Identify top products, channels &amp; regions contributing to revenue growth</a:t>
            </a:r>
            <a:endParaRPr lang="en-US" sz="1050" dirty="0"/>
          </a:p>
        </p:txBody>
      </p:sp>
      <p:sp>
        <p:nvSpPr>
          <p:cNvPr id="13" name="Shape 11"/>
          <p:cNvSpPr/>
          <p:nvPr/>
        </p:nvSpPr>
        <p:spPr>
          <a:xfrm>
            <a:off x="3200400" y="2743200"/>
            <a:ext cx="2651760" cy="210312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4" name="Text 12"/>
          <p:cNvSpPr/>
          <p:nvPr/>
        </p:nvSpPr>
        <p:spPr>
          <a:xfrm>
            <a:off x="3200400" y="2834640"/>
            <a:ext cx="2651760" cy="50292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5" name="Text 13"/>
          <p:cNvSpPr/>
          <p:nvPr/>
        </p:nvSpPr>
        <p:spPr>
          <a:xfrm>
            <a:off x="3200400" y="3383280"/>
            <a:ext cx="2651760" cy="365760"/>
          </a:xfrm>
          <a:prstGeom prst="rect">
            <a:avLst/>
          </a:prstGeom>
          <a:noFill/>
          <a:ln/>
        </p:spPr>
        <p:txBody>
          <a:bodyPr wrap="square" lIns="0" tIns="0" rIns="0" bIns="0" rtlCol="0" anchor="ctr"/>
          <a:lstStyle/>
          <a:p>
            <a:pPr marL="0" indent="0" algn="ctr">
              <a:buNone/>
            </a:pPr>
            <a:r>
              <a:rPr lang="en-US" sz="1300" b="1" dirty="0">
                <a:solidFill>
                  <a:srgbClr val="0EA5E9"/>
                </a:solidFill>
                <a:latin typeface="Calibri" pitchFamily="34" charset="0"/>
                <a:ea typeface="Calibri" pitchFamily="34" charset="-122"/>
                <a:cs typeface="Calibri" pitchFamily="34" charset="-120"/>
              </a:rPr>
              <a:t>Seasonal Trends</a:t>
            </a:r>
            <a:endParaRPr lang="en-US" sz="1300" dirty="0"/>
          </a:p>
        </p:txBody>
      </p:sp>
      <p:sp>
        <p:nvSpPr>
          <p:cNvPr id="16" name="Text 14"/>
          <p:cNvSpPr/>
          <p:nvPr/>
        </p:nvSpPr>
        <p:spPr>
          <a:xfrm>
            <a:off x="3337560" y="3767328"/>
            <a:ext cx="2377440" cy="868680"/>
          </a:xfrm>
          <a:prstGeom prst="rect">
            <a:avLst/>
          </a:prstGeom>
          <a:noFill/>
          <a:ln/>
        </p:spPr>
        <p:txBody>
          <a:bodyPr wrap="square" lIns="0" tIns="0" rIns="0" bIns="0" rtlCol="0" anchor="ctr"/>
          <a:lstStyle/>
          <a:p>
            <a:pPr marL="0" indent="0" algn="ctr">
              <a:lnSpc>
                <a:spcPct val="130000"/>
              </a:lnSpc>
              <a:buNone/>
            </a:pPr>
            <a:r>
              <a:rPr lang="en-US" sz="1050" dirty="0">
                <a:solidFill>
                  <a:srgbClr val="D1D9E8"/>
                </a:solidFill>
                <a:latin typeface="Calibri" pitchFamily="34" charset="0"/>
                <a:ea typeface="Calibri" pitchFamily="34" charset="-122"/>
                <a:cs typeface="Calibri" pitchFamily="34" charset="-120"/>
              </a:rPr>
              <a:t>Detect monthly &amp; yearly patterns to align promotions &amp; inventory</a:t>
            </a:r>
            <a:endParaRPr lang="en-US" sz="1050" dirty="0"/>
          </a:p>
        </p:txBody>
      </p:sp>
      <p:sp>
        <p:nvSpPr>
          <p:cNvPr id="17" name="Shape 15"/>
          <p:cNvSpPr/>
          <p:nvPr/>
        </p:nvSpPr>
        <p:spPr>
          <a:xfrm>
            <a:off x="6035040" y="2743200"/>
            <a:ext cx="2651760" cy="210312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8" name="Text 16"/>
          <p:cNvSpPr/>
          <p:nvPr/>
        </p:nvSpPr>
        <p:spPr>
          <a:xfrm>
            <a:off x="6035040" y="2834640"/>
            <a:ext cx="2651760" cy="502920"/>
          </a:xfrm>
          <a:prstGeom prst="rect">
            <a:avLst/>
          </a:prstGeom>
          <a:noFill/>
          <a:ln/>
        </p:spPr>
        <p:txBody>
          <a:bodyPr wrap="square" lIns="0" tIns="0" rIns="0" bIns="0" rtlCol="0" anchor="ctr"/>
          <a:lstStyle/>
          <a:p>
            <a:pPr marL="0" indent="0" algn="ctr">
              <a:buNone/>
            </a:pPr>
            <a:r>
              <a:rPr lang="en-US" sz="2800" dirty="0">
                <a:solidFill>
                  <a:srgbClr val="000000"/>
                </a:solidFill>
                <a:latin typeface="Calibri" pitchFamily="34" charset="0"/>
                <a:ea typeface="Calibri" pitchFamily="34" charset="-122"/>
                <a:cs typeface="Calibri" pitchFamily="34" charset="-120"/>
              </a:rPr>
              <a:t>🎯</a:t>
            </a:r>
            <a:endParaRPr lang="en-US" sz="2800" dirty="0"/>
          </a:p>
        </p:txBody>
      </p:sp>
      <p:sp>
        <p:nvSpPr>
          <p:cNvPr id="19" name="Text 17"/>
          <p:cNvSpPr/>
          <p:nvPr/>
        </p:nvSpPr>
        <p:spPr>
          <a:xfrm>
            <a:off x="6035040" y="3383280"/>
            <a:ext cx="2651760" cy="365760"/>
          </a:xfrm>
          <a:prstGeom prst="rect">
            <a:avLst/>
          </a:prstGeom>
          <a:noFill/>
          <a:ln/>
        </p:spPr>
        <p:txBody>
          <a:bodyPr wrap="square" lIns="0" tIns="0" rIns="0" bIns="0" rtlCol="0" anchor="ctr"/>
          <a:lstStyle/>
          <a:p>
            <a:pPr marL="0" indent="0" algn="ctr">
              <a:buNone/>
            </a:pPr>
            <a:r>
              <a:rPr lang="en-US" sz="1300" b="1" dirty="0">
                <a:solidFill>
                  <a:srgbClr val="0EA5E9"/>
                </a:solidFill>
                <a:latin typeface="Calibri" pitchFamily="34" charset="0"/>
                <a:ea typeface="Calibri" pitchFamily="34" charset="-122"/>
                <a:cs typeface="Calibri" pitchFamily="34" charset="-120"/>
              </a:rPr>
              <a:t>Budget Alignment</a:t>
            </a:r>
            <a:endParaRPr lang="en-US" sz="1300" dirty="0"/>
          </a:p>
        </p:txBody>
      </p:sp>
      <p:sp>
        <p:nvSpPr>
          <p:cNvPr id="20" name="Text 18"/>
          <p:cNvSpPr/>
          <p:nvPr/>
        </p:nvSpPr>
        <p:spPr>
          <a:xfrm>
            <a:off x="6172200" y="3767328"/>
            <a:ext cx="2377440" cy="868680"/>
          </a:xfrm>
          <a:prstGeom prst="rect">
            <a:avLst/>
          </a:prstGeom>
          <a:noFill/>
          <a:ln/>
        </p:spPr>
        <p:txBody>
          <a:bodyPr wrap="square" lIns="0" tIns="0" rIns="0" bIns="0" rtlCol="0" anchor="ctr"/>
          <a:lstStyle/>
          <a:p>
            <a:pPr marL="0" indent="0" algn="ctr">
              <a:lnSpc>
                <a:spcPct val="130000"/>
              </a:lnSpc>
              <a:buNone/>
            </a:pPr>
            <a:r>
              <a:rPr lang="en-US" sz="1050" dirty="0">
                <a:solidFill>
                  <a:srgbClr val="D1D9E8"/>
                </a:solidFill>
                <a:latin typeface="Calibri" pitchFamily="34" charset="0"/>
                <a:ea typeface="Calibri" pitchFamily="34" charset="-122"/>
                <a:cs typeface="Calibri" pitchFamily="34" charset="-120"/>
              </a:rPr>
              <a:t>Compare actuals vs. 2017 budgets &amp; surface underperformance risks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DATA OVERVIEW &amp; QUALITY</a:t>
            </a:r>
            <a:endParaRPr lang="en-US" sz="28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sp>
        <p:nvSpPr>
          <p:cNvPr id="5" name="Text 3"/>
          <p:cNvSpPr/>
          <p:nvPr/>
        </p:nvSpPr>
        <p:spPr>
          <a:xfrm>
            <a:off x="365760" y="1143000"/>
            <a:ext cx="5029200" cy="365760"/>
          </a:xfrm>
          <a:prstGeom prst="rect">
            <a:avLst/>
          </a:prstGeom>
          <a:noFill/>
          <a:ln/>
        </p:spPr>
        <p:txBody>
          <a:bodyPr wrap="square" lIns="0" tIns="0" rIns="0" bIns="0" rtlCol="0" anchor="ctr"/>
          <a:lstStyle/>
          <a:p>
            <a:pPr marL="0" indent="0">
              <a:buNone/>
            </a:pPr>
            <a:r>
              <a:rPr lang="en-US" sz="1400" b="1" dirty="0">
                <a:solidFill>
                  <a:srgbClr val="0A1628"/>
                </a:solidFill>
                <a:latin typeface="Calibri" pitchFamily="34" charset="0"/>
                <a:ea typeface="Calibri" pitchFamily="34" charset="-122"/>
                <a:cs typeface="Calibri" pitchFamily="34" charset="-120"/>
              </a:rPr>
              <a:t>6 Source Datasets</a:t>
            </a:r>
            <a:endParaRPr lang="en-US" sz="1400" dirty="0"/>
          </a:p>
        </p:txBody>
      </p:sp>
      <p:sp>
        <p:nvSpPr>
          <p:cNvPr id="6" name="Shape 4"/>
          <p:cNvSpPr/>
          <p:nvPr/>
        </p:nvSpPr>
        <p:spPr>
          <a:xfrm>
            <a:off x="365760" y="1572768"/>
            <a:ext cx="5029200" cy="457200"/>
          </a:xfrm>
          <a:prstGeom prst="rect">
            <a:avLst/>
          </a:prstGeom>
          <a:solidFill>
            <a:srgbClr val="E8F0FB"/>
          </a:solidFill>
          <a:ln/>
        </p:spPr>
        <p:txBody>
          <a:bodyPr/>
          <a:lstStyle/>
          <a:p>
            <a:endParaRPr lang="en-IN"/>
          </a:p>
        </p:txBody>
      </p:sp>
      <p:sp>
        <p:nvSpPr>
          <p:cNvPr id="7" name="Text 5"/>
          <p:cNvSpPr/>
          <p:nvPr/>
        </p:nvSpPr>
        <p:spPr>
          <a:xfrm>
            <a:off x="502920" y="166420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Sales Orders</a:t>
            </a:r>
            <a:endParaRPr lang="en-US" sz="1100" dirty="0"/>
          </a:p>
        </p:txBody>
      </p:sp>
      <p:sp>
        <p:nvSpPr>
          <p:cNvPr id="8" name="Text 6"/>
          <p:cNvSpPr/>
          <p:nvPr/>
        </p:nvSpPr>
        <p:spPr>
          <a:xfrm>
            <a:off x="2103120" y="166420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64,104 rows × 12 cols</a:t>
            </a:r>
            <a:endParaRPr lang="en-US" sz="1000" dirty="0"/>
          </a:p>
        </p:txBody>
      </p:sp>
      <p:sp>
        <p:nvSpPr>
          <p:cNvPr id="9" name="Text 7"/>
          <p:cNvSpPr/>
          <p:nvPr/>
        </p:nvSpPr>
        <p:spPr>
          <a:xfrm>
            <a:off x="3977640" y="166420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Core transaction data</a:t>
            </a:r>
            <a:endParaRPr lang="en-US" sz="950" dirty="0"/>
          </a:p>
        </p:txBody>
      </p:sp>
      <p:sp>
        <p:nvSpPr>
          <p:cNvPr id="10" name="Shape 8"/>
          <p:cNvSpPr/>
          <p:nvPr/>
        </p:nvSpPr>
        <p:spPr>
          <a:xfrm>
            <a:off x="365760" y="2075688"/>
            <a:ext cx="5029200" cy="457200"/>
          </a:xfrm>
          <a:prstGeom prst="rect">
            <a:avLst/>
          </a:prstGeom>
          <a:solidFill>
            <a:srgbClr val="FFFFFF"/>
          </a:solidFill>
          <a:ln/>
        </p:spPr>
        <p:txBody>
          <a:bodyPr/>
          <a:lstStyle/>
          <a:p>
            <a:endParaRPr lang="en-IN"/>
          </a:p>
        </p:txBody>
      </p:sp>
      <p:sp>
        <p:nvSpPr>
          <p:cNvPr id="11" name="Text 9"/>
          <p:cNvSpPr/>
          <p:nvPr/>
        </p:nvSpPr>
        <p:spPr>
          <a:xfrm>
            <a:off x="502920" y="216712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Customers</a:t>
            </a:r>
            <a:endParaRPr lang="en-US" sz="1100" dirty="0"/>
          </a:p>
        </p:txBody>
      </p:sp>
      <p:sp>
        <p:nvSpPr>
          <p:cNvPr id="12" name="Text 10"/>
          <p:cNvSpPr/>
          <p:nvPr/>
        </p:nvSpPr>
        <p:spPr>
          <a:xfrm>
            <a:off x="2103120" y="216712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175 rows × 2 cols</a:t>
            </a:r>
            <a:endParaRPr lang="en-US" sz="1000" dirty="0"/>
          </a:p>
        </p:txBody>
      </p:sp>
      <p:sp>
        <p:nvSpPr>
          <p:cNvPr id="13" name="Text 11"/>
          <p:cNvSpPr/>
          <p:nvPr/>
        </p:nvSpPr>
        <p:spPr>
          <a:xfrm>
            <a:off x="3977640" y="216712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Customer index &amp; names</a:t>
            </a:r>
            <a:endParaRPr lang="en-US" sz="950" dirty="0"/>
          </a:p>
        </p:txBody>
      </p:sp>
      <p:sp>
        <p:nvSpPr>
          <p:cNvPr id="14" name="Shape 12"/>
          <p:cNvSpPr/>
          <p:nvPr/>
        </p:nvSpPr>
        <p:spPr>
          <a:xfrm>
            <a:off x="365760" y="2578608"/>
            <a:ext cx="5029200" cy="457200"/>
          </a:xfrm>
          <a:prstGeom prst="rect">
            <a:avLst/>
          </a:prstGeom>
          <a:solidFill>
            <a:srgbClr val="E8F0FB"/>
          </a:solidFill>
          <a:ln/>
        </p:spPr>
        <p:txBody>
          <a:bodyPr/>
          <a:lstStyle/>
          <a:p>
            <a:endParaRPr lang="en-IN"/>
          </a:p>
        </p:txBody>
      </p:sp>
      <p:sp>
        <p:nvSpPr>
          <p:cNvPr id="15" name="Text 13"/>
          <p:cNvSpPr/>
          <p:nvPr/>
        </p:nvSpPr>
        <p:spPr>
          <a:xfrm>
            <a:off x="502920" y="267004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Regions</a:t>
            </a:r>
            <a:endParaRPr lang="en-US" sz="1100" dirty="0"/>
          </a:p>
        </p:txBody>
      </p:sp>
      <p:sp>
        <p:nvSpPr>
          <p:cNvPr id="16" name="Text 14"/>
          <p:cNvSpPr/>
          <p:nvPr/>
        </p:nvSpPr>
        <p:spPr>
          <a:xfrm>
            <a:off x="2103120" y="267004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994 rows × 15 cols</a:t>
            </a:r>
            <a:endParaRPr lang="en-US" sz="1000" dirty="0"/>
          </a:p>
        </p:txBody>
      </p:sp>
      <p:sp>
        <p:nvSpPr>
          <p:cNvPr id="17" name="Text 15"/>
          <p:cNvSpPr/>
          <p:nvPr/>
        </p:nvSpPr>
        <p:spPr>
          <a:xfrm>
            <a:off x="3977640" y="267004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Geographic metadata</a:t>
            </a:r>
            <a:endParaRPr lang="en-US" sz="950" dirty="0"/>
          </a:p>
        </p:txBody>
      </p:sp>
      <p:sp>
        <p:nvSpPr>
          <p:cNvPr id="18" name="Shape 16"/>
          <p:cNvSpPr/>
          <p:nvPr/>
        </p:nvSpPr>
        <p:spPr>
          <a:xfrm>
            <a:off x="365760" y="3081528"/>
            <a:ext cx="5029200" cy="457200"/>
          </a:xfrm>
          <a:prstGeom prst="rect">
            <a:avLst/>
          </a:prstGeom>
          <a:solidFill>
            <a:srgbClr val="FFFFFF"/>
          </a:solidFill>
          <a:ln/>
        </p:spPr>
        <p:txBody>
          <a:bodyPr/>
          <a:lstStyle/>
          <a:p>
            <a:endParaRPr lang="en-IN"/>
          </a:p>
        </p:txBody>
      </p:sp>
      <p:sp>
        <p:nvSpPr>
          <p:cNvPr id="19" name="Text 17"/>
          <p:cNvSpPr/>
          <p:nvPr/>
        </p:nvSpPr>
        <p:spPr>
          <a:xfrm>
            <a:off x="502920" y="317296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State Regions</a:t>
            </a:r>
            <a:endParaRPr lang="en-US" sz="1100" dirty="0"/>
          </a:p>
        </p:txBody>
      </p:sp>
      <p:sp>
        <p:nvSpPr>
          <p:cNvPr id="20" name="Text 18"/>
          <p:cNvSpPr/>
          <p:nvPr/>
        </p:nvSpPr>
        <p:spPr>
          <a:xfrm>
            <a:off x="2103120" y="317296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49 rows × 3 cols</a:t>
            </a:r>
            <a:endParaRPr lang="en-US" sz="1000" dirty="0"/>
          </a:p>
        </p:txBody>
      </p:sp>
      <p:sp>
        <p:nvSpPr>
          <p:cNvPr id="21" name="Text 19"/>
          <p:cNvSpPr/>
          <p:nvPr/>
        </p:nvSpPr>
        <p:spPr>
          <a:xfrm>
            <a:off x="3977640" y="317296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State-to-region mapping</a:t>
            </a:r>
            <a:endParaRPr lang="en-US" sz="950" dirty="0"/>
          </a:p>
        </p:txBody>
      </p:sp>
      <p:sp>
        <p:nvSpPr>
          <p:cNvPr id="22" name="Shape 20"/>
          <p:cNvSpPr/>
          <p:nvPr/>
        </p:nvSpPr>
        <p:spPr>
          <a:xfrm>
            <a:off x="365760" y="3584448"/>
            <a:ext cx="5029200" cy="457200"/>
          </a:xfrm>
          <a:prstGeom prst="rect">
            <a:avLst/>
          </a:prstGeom>
          <a:solidFill>
            <a:srgbClr val="E8F0FB"/>
          </a:solidFill>
          <a:ln/>
        </p:spPr>
        <p:txBody>
          <a:bodyPr/>
          <a:lstStyle/>
          <a:p>
            <a:endParaRPr lang="en-IN"/>
          </a:p>
        </p:txBody>
      </p:sp>
      <p:sp>
        <p:nvSpPr>
          <p:cNvPr id="23" name="Text 21"/>
          <p:cNvSpPr/>
          <p:nvPr/>
        </p:nvSpPr>
        <p:spPr>
          <a:xfrm>
            <a:off x="502920" y="367588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Products</a:t>
            </a:r>
            <a:endParaRPr lang="en-US" sz="1100" dirty="0"/>
          </a:p>
        </p:txBody>
      </p:sp>
      <p:sp>
        <p:nvSpPr>
          <p:cNvPr id="24" name="Text 22"/>
          <p:cNvSpPr/>
          <p:nvPr/>
        </p:nvSpPr>
        <p:spPr>
          <a:xfrm>
            <a:off x="2103120" y="367588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30 rows × 2 cols</a:t>
            </a:r>
            <a:endParaRPr lang="en-US" sz="1000" dirty="0"/>
          </a:p>
        </p:txBody>
      </p:sp>
      <p:sp>
        <p:nvSpPr>
          <p:cNvPr id="25" name="Text 23"/>
          <p:cNvSpPr/>
          <p:nvPr/>
        </p:nvSpPr>
        <p:spPr>
          <a:xfrm>
            <a:off x="3977640" y="367588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Product index &amp; names</a:t>
            </a:r>
            <a:endParaRPr lang="en-US" sz="950" dirty="0"/>
          </a:p>
        </p:txBody>
      </p:sp>
      <p:sp>
        <p:nvSpPr>
          <p:cNvPr id="26" name="Shape 24"/>
          <p:cNvSpPr/>
          <p:nvPr/>
        </p:nvSpPr>
        <p:spPr>
          <a:xfrm>
            <a:off x="365760" y="4087368"/>
            <a:ext cx="5029200" cy="457200"/>
          </a:xfrm>
          <a:prstGeom prst="rect">
            <a:avLst/>
          </a:prstGeom>
          <a:solidFill>
            <a:srgbClr val="FFFFFF"/>
          </a:solidFill>
          <a:ln/>
        </p:spPr>
        <p:txBody>
          <a:bodyPr/>
          <a:lstStyle/>
          <a:p>
            <a:endParaRPr lang="en-IN"/>
          </a:p>
        </p:txBody>
      </p:sp>
      <p:sp>
        <p:nvSpPr>
          <p:cNvPr id="27" name="Text 25"/>
          <p:cNvSpPr/>
          <p:nvPr/>
        </p:nvSpPr>
        <p:spPr>
          <a:xfrm>
            <a:off x="502920" y="4178808"/>
            <a:ext cx="1554480" cy="292608"/>
          </a:xfrm>
          <a:prstGeom prst="rect">
            <a:avLst/>
          </a:prstGeom>
          <a:noFill/>
          <a:ln/>
        </p:spPr>
        <p:txBody>
          <a:bodyPr wrap="square" lIns="0" tIns="0" rIns="0" bIns="0" rtlCol="0" anchor="ctr"/>
          <a:lstStyle/>
          <a:p>
            <a:pPr marL="0" indent="0">
              <a:buNone/>
            </a:pPr>
            <a:r>
              <a:rPr lang="en-US" sz="1100" b="1" dirty="0">
                <a:solidFill>
                  <a:srgbClr val="0A1628"/>
                </a:solidFill>
                <a:latin typeface="Calibri" pitchFamily="34" charset="0"/>
                <a:ea typeface="Calibri" pitchFamily="34" charset="-122"/>
                <a:cs typeface="Calibri" pitchFamily="34" charset="-120"/>
              </a:rPr>
              <a:t>2017 Budgets</a:t>
            </a:r>
            <a:endParaRPr lang="en-US" sz="1100" dirty="0"/>
          </a:p>
        </p:txBody>
      </p:sp>
      <p:sp>
        <p:nvSpPr>
          <p:cNvPr id="28" name="Text 26"/>
          <p:cNvSpPr/>
          <p:nvPr/>
        </p:nvSpPr>
        <p:spPr>
          <a:xfrm>
            <a:off x="2103120" y="4178808"/>
            <a:ext cx="1828800" cy="29260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30 rows × 2 cols</a:t>
            </a:r>
            <a:endParaRPr lang="en-US" sz="1000" dirty="0"/>
          </a:p>
        </p:txBody>
      </p:sp>
      <p:sp>
        <p:nvSpPr>
          <p:cNvPr id="29" name="Text 27"/>
          <p:cNvSpPr/>
          <p:nvPr/>
        </p:nvSpPr>
        <p:spPr>
          <a:xfrm>
            <a:off x="3977640" y="4178808"/>
            <a:ext cx="1463040" cy="292608"/>
          </a:xfrm>
          <a:prstGeom prst="rect">
            <a:avLst/>
          </a:prstGeom>
          <a:noFill/>
          <a:ln/>
        </p:spPr>
        <p:txBody>
          <a:bodyPr wrap="square" lIns="0" tIns="0" rIns="0" bIns="0" rtlCol="0" anchor="ctr"/>
          <a:lstStyle/>
          <a:p>
            <a:pPr marL="0" indent="0">
              <a:buNone/>
            </a:pPr>
            <a:r>
              <a:rPr lang="en-US" sz="950" dirty="0">
                <a:solidFill>
                  <a:srgbClr val="8FA8C8"/>
                </a:solidFill>
                <a:latin typeface="Calibri" pitchFamily="34" charset="0"/>
                <a:ea typeface="Calibri" pitchFamily="34" charset="-122"/>
                <a:cs typeface="Calibri" pitchFamily="34" charset="-120"/>
              </a:rPr>
              <a:t>Budget targets per product</a:t>
            </a:r>
            <a:endParaRPr lang="en-US" sz="950" dirty="0"/>
          </a:p>
        </p:txBody>
      </p:sp>
      <p:sp>
        <p:nvSpPr>
          <p:cNvPr id="30" name="Shape 28"/>
          <p:cNvSpPr/>
          <p:nvPr/>
        </p:nvSpPr>
        <p:spPr>
          <a:xfrm>
            <a:off x="5577840" y="1188720"/>
            <a:ext cx="1554480" cy="128016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31" name="Text 29"/>
          <p:cNvSpPr/>
          <p:nvPr/>
        </p:nvSpPr>
        <p:spPr>
          <a:xfrm>
            <a:off x="5577840" y="1371600"/>
            <a:ext cx="1554480" cy="594360"/>
          </a:xfrm>
          <a:prstGeom prst="rect">
            <a:avLst/>
          </a:prstGeom>
          <a:noFill/>
          <a:ln/>
        </p:spPr>
        <p:txBody>
          <a:bodyPr wrap="square" lIns="0" tIns="0" rIns="0" bIns="0" rtlCol="0" anchor="ctr"/>
          <a:lstStyle/>
          <a:p>
            <a:pPr marL="0" indent="0" algn="ctr">
              <a:buNone/>
            </a:pPr>
            <a:r>
              <a:rPr lang="en-US" sz="3200" b="1" dirty="0">
                <a:solidFill>
                  <a:srgbClr val="10B981"/>
                </a:solidFill>
                <a:latin typeface="Calibri" pitchFamily="34" charset="0"/>
                <a:ea typeface="Calibri" pitchFamily="34" charset="-122"/>
                <a:cs typeface="Calibri" pitchFamily="34" charset="-120"/>
              </a:rPr>
              <a:t>0</a:t>
            </a:r>
            <a:endParaRPr lang="en-US" sz="3200" dirty="0"/>
          </a:p>
        </p:txBody>
      </p:sp>
      <p:sp>
        <p:nvSpPr>
          <p:cNvPr id="32" name="Text 30"/>
          <p:cNvSpPr/>
          <p:nvPr/>
        </p:nvSpPr>
        <p:spPr>
          <a:xfrm>
            <a:off x="5577840" y="1993392"/>
            <a:ext cx="1554480" cy="347472"/>
          </a:xfrm>
          <a:prstGeom prst="rect">
            <a:avLst/>
          </a:prstGeom>
          <a:noFill/>
          <a:ln/>
        </p:spPr>
        <p:txBody>
          <a:bodyPr wrap="square" lIns="0" tIns="0" rIns="0" bIns="0" rtlCol="0" anchor="ctr"/>
          <a:lstStyle/>
          <a:p>
            <a:pPr marL="0" indent="0" algn="ctr">
              <a:buNone/>
            </a:pPr>
            <a:r>
              <a:rPr lang="en-US" sz="1000" dirty="0">
                <a:solidFill>
                  <a:srgbClr val="D1D9E8"/>
                </a:solidFill>
                <a:latin typeface="Calibri" pitchFamily="34" charset="0"/>
                <a:ea typeface="Calibri" pitchFamily="34" charset="-122"/>
                <a:cs typeface="Calibri" pitchFamily="34" charset="-120"/>
              </a:rPr>
              <a:t>Null Values</a:t>
            </a:r>
            <a:endParaRPr lang="en-US" sz="1000" dirty="0"/>
          </a:p>
        </p:txBody>
      </p:sp>
      <p:sp>
        <p:nvSpPr>
          <p:cNvPr id="33" name="Shape 31"/>
          <p:cNvSpPr/>
          <p:nvPr/>
        </p:nvSpPr>
        <p:spPr>
          <a:xfrm>
            <a:off x="7269480" y="1188720"/>
            <a:ext cx="1554480" cy="128016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34" name="Text 32"/>
          <p:cNvSpPr/>
          <p:nvPr/>
        </p:nvSpPr>
        <p:spPr>
          <a:xfrm>
            <a:off x="7269480" y="1371600"/>
            <a:ext cx="1554480" cy="594360"/>
          </a:xfrm>
          <a:prstGeom prst="rect">
            <a:avLst/>
          </a:prstGeom>
          <a:noFill/>
          <a:ln/>
        </p:spPr>
        <p:txBody>
          <a:bodyPr wrap="square" lIns="0" tIns="0" rIns="0" bIns="0" rtlCol="0" anchor="ctr"/>
          <a:lstStyle/>
          <a:p>
            <a:pPr marL="0" indent="0" algn="ctr">
              <a:buNone/>
            </a:pPr>
            <a:r>
              <a:rPr lang="en-US" sz="3200" b="1" dirty="0">
                <a:solidFill>
                  <a:srgbClr val="10B981"/>
                </a:solidFill>
                <a:latin typeface="Calibri" pitchFamily="34" charset="0"/>
                <a:ea typeface="Calibri" pitchFamily="34" charset="-122"/>
                <a:cs typeface="Calibri" pitchFamily="34" charset="-120"/>
              </a:rPr>
              <a:t>0</a:t>
            </a:r>
            <a:endParaRPr lang="en-US" sz="3200" dirty="0"/>
          </a:p>
        </p:txBody>
      </p:sp>
      <p:sp>
        <p:nvSpPr>
          <p:cNvPr id="35" name="Text 33"/>
          <p:cNvSpPr/>
          <p:nvPr/>
        </p:nvSpPr>
        <p:spPr>
          <a:xfrm>
            <a:off x="7269480" y="1993392"/>
            <a:ext cx="1554480" cy="347472"/>
          </a:xfrm>
          <a:prstGeom prst="rect">
            <a:avLst/>
          </a:prstGeom>
          <a:noFill/>
          <a:ln/>
        </p:spPr>
        <p:txBody>
          <a:bodyPr wrap="square" lIns="0" tIns="0" rIns="0" bIns="0" rtlCol="0" anchor="ctr"/>
          <a:lstStyle/>
          <a:p>
            <a:pPr marL="0" indent="0" algn="ctr">
              <a:buNone/>
            </a:pPr>
            <a:r>
              <a:rPr lang="en-US" sz="1000" dirty="0">
                <a:solidFill>
                  <a:srgbClr val="D1D9E8"/>
                </a:solidFill>
                <a:latin typeface="Calibri" pitchFamily="34" charset="0"/>
                <a:ea typeface="Calibri" pitchFamily="34" charset="-122"/>
                <a:cs typeface="Calibri" pitchFamily="34" charset="-120"/>
              </a:rPr>
              <a:t>Duplicates</a:t>
            </a:r>
            <a:endParaRPr lang="en-US" sz="1000" dirty="0"/>
          </a:p>
        </p:txBody>
      </p:sp>
      <p:sp>
        <p:nvSpPr>
          <p:cNvPr id="36" name="Shape 34"/>
          <p:cNvSpPr/>
          <p:nvPr/>
        </p:nvSpPr>
        <p:spPr>
          <a:xfrm>
            <a:off x="5577840" y="2651760"/>
            <a:ext cx="1554480" cy="128016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37" name="Text 35"/>
          <p:cNvSpPr/>
          <p:nvPr/>
        </p:nvSpPr>
        <p:spPr>
          <a:xfrm>
            <a:off x="5577840" y="2834640"/>
            <a:ext cx="1554480" cy="594360"/>
          </a:xfrm>
          <a:prstGeom prst="rect">
            <a:avLst/>
          </a:prstGeom>
          <a:noFill/>
          <a:ln/>
        </p:spPr>
        <p:txBody>
          <a:bodyPr wrap="square" lIns="0" tIns="0" rIns="0" bIns="0" rtlCol="0" anchor="ctr"/>
          <a:lstStyle/>
          <a:p>
            <a:pPr marL="0" indent="0" algn="ctr">
              <a:buNone/>
            </a:pPr>
            <a:r>
              <a:rPr lang="en-US" sz="3200" b="1" dirty="0">
                <a:solidFill>
                  <a:srgbClr val="0EA5E9"/>
                </a:solidFill>
                <a:latin typeface="Calibri" pitchFamily="34" charset="0"/>
                <a:ea typeface="Calibri" pitchFamily="34" charset="-122"/>
                <a:cs typeface="Calibri" pitchFamily="34" charset="-120"/>
              </a:rPr>
              <a:t>20</a:t>
            </a:r>
            <a:endParaRPr lang="en-US" sz="3200" dirty="0"/>
          </a:p>
        </p:txBody>
      </p:sp>
      <p:sp>
        <p:nvSpPr>
          <p:cNvPr id="38" name="Text 36"/>
          <p:cNvSpPr/>
          <p:nvPr/>
        </p:nvSpPr>
        <p:spPr>
          <a:xfrm>
            <a:off x="5577840" y="3456432"/>
            <a:ext cx="1554480" cy="347472"/>
          </a:xfrm>
          <a:prstGeom prst="rect">
            <a:avLst/>
          </a:prstGeom>
          <a:noFill/>
          <a:ln/>
        </p:spPr>
        <p:txBody>
          <a:bodyPr wrap="square" lIns="0" tIns="0" rIns="0" bIns="0" rtlCol="0" anchor="ctr"/>
          <a:lstStyle/>
          <a:p>
            <a:pPr marL="0" indent="0" algn="ctr">
              <a:buNone/>
            </a:pPr>
            <a:r>
              <a:rPr lang="en-US" sz="1000" dirty="0">
                <a:solidFill>
                  <a:srgbClr val="D1D9E8"/>
                </a:solidFill>
                <a:latin typeface="Calibri" pitchFamily="34" charset="0"/>
                <a:ea typeface="Calibri" pitchFamily="34" charset="-122"/>
                <a:cs typeface="Calibri" pitchFamily="34" charset="-120"/>
              </a:rPr>
              <a:t>Features (final)</a:t>
            </a:r>
            <a:endParaRPr lang="en-US" sz="1000" dirty="0"/>
          </a:p>
        </p:txBody>
      </p:sp>
      <p:sp>
        <p:nvSpPr>
          <p:cNvPr id="39" name="Shape 37"/>
          <p:cNvSpPr/>
          <p:nvPr/>
        </p:nvSpPr>
        <p:spPr>
          <a:xfrm>
            <a:off x="7269480" y="2651760"/>
            <a:ext cx="1554480" cy="128016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40" name="Text 38"/>
          <p:cNvSpPr/>
          <p:nvPr/>
        </p:nvSpPr>
        <p:spPr>
          <a:xfrm>
            <a:off x="7269480" y="2834640"/>
            <a:ext cx="1554480" cy="594360"/>
          </a:xfrm>
          <a:prstGeom prst="rect">
            <a:avLst/>
          </a:prstGeom>
          <a:noFill/>
          <a:ln/>
        </p:spPr>
        <p:txBody>
          <a:bodyPr wrap="square" lIns="0" tIns="0" rIns="0" bIns="0" rtlCol="0" anchor="ctr"/>
          <a:lstStyle/>
          <a:p>
            <a:pPr marL="0" indent="0" algn="ctr">
              <a:buNone/>
            </a:pPr>
            <a:r>
              <a:rPr lang="en-US" sz="3200" b="1" dirty="0">
                <a:solidFill>
                  <a:srgbClr val="F59E0B"/>
                </a:solidFill>
                <a:latin typeface="Calibri" pitchFamily="34" charset="0"/>
                <a:ea typeface="Calibri" pitchFamily="34" charset="-122"/>
                <a:cs typeface="Calibri" pitchFamily="34" charset="-120"/>
              </a:rPr>
              <a:t>100%</a:t>
            </a:r>
            <a:endParaRPr lang="en-US" sz="3200" dirty="0"/>
          </a:p>
        </p:txBody>
      </p:sp>
      <p:sp>
        <p:nvSpPr>
          <p:cNvPr id="41" name="Text 39"/>
          <p:cNvSpPr/>
          <p:nvPr/>
        </p:nvSpPr>
        <p:spPr>
          <a:xfrm>
            <a:off x="7269480" y="3456432"/>
            <a:ext cx="1554480" cy="347472"/>
          </a:xfrm>
          <a:prstGeom prst="rect">
            <a:avLst/>
          </a:prstGeom>
          <a:noFill/>
          <a:ln/>
        </p:spPr>
        <p:txBody>
          <a:bodyPr wrap="square" lIns="0" tIns="0" rIns="0" bIns="0" rtlCol="0" anchor="ctr"/>
          <a:lstStyle/>
          <a:p>
            <a:pPr marL="0" indent="0" algn="ctr">
              <a:buNone/>
            </a:pPr>
            <a:r>
              <a:rPr lang="en-US" sz="1000" dirty="0">
                <a:solidFill>
                  <a:srgbClr val="D1D9E8"/>
                </a:solidFill>
                <a:latin typeface="Calibri" pitchFamily="34" charset="0"/>
                <a:ea typeface="Calibri" pitchFamily="34" charset="-122"/>
                <a:cs typeface="Calibri" pitchFamily="34" charset="-120"/>
              </a:rPr>
              <a:t>Data Coverage</a:t>
            </a:r>
            <a:endParaRPr lang="en-US" sz="1000" dirty="0"/>
          </a:p>
        </p:txBody>
      </p:sp>
      <p:sp>
        <p:nvSpPr>
          <p:cNvPr id="42" name="Shape 40"/>
          <p:cNvSpPr/>
          <p:nvPr/>
        </p:nvSpPr>
        <p:spPr>
          <a:xfrm>
            <a:off x="5577840" y="4160520"/>
            <a:ext cx="3383280" cy="777240"/>
          </a:xfrm>
          <a:prstGeom prst="rect">
            <a:avLst/>
          </a:prstGeom>
          <a:solidFill>
            <a:srgbClr val="1B3A6B"/>
          </a:solidFill>
          <a:ln/>
        </p:spPr>
        <p:txBody>
          <a:bodyPr/>
          <a:lstStyle/>
          <a:p>
            <a:endParaRPr lang="en-IN"/>
          </a:p>
        </p:txBody>
      </p:sp>
      <p:sp>
        <p:nvSpPr>
          <p:cNvPr id="43" name="Text 41"/>
          <p:cNvSpPr/>
          <p:nvPr/>
        </p:nvSpPr>
        <p:spPr>
          <a:xfrm>
            <a:off x="5669280" y="4224528"/>
            <a:ext cx="3200400" cy="640080"/>
          </a:xfrm>
          <a:prstGeom prst="rect">
            <a:avLst/>
          </a:prstGeom>
          <a:noFill/>
          <a:ln/>
        </p:spPr>
        <p:txBody>
          <a:bodyPr wrap="square" lIns="0" tIns="0" rIns="0" bIns="0" rtlCol="0" anchor="ctr"/>
          <a:lstStyle/>
          <a:p>
            <a:pPr marL="0" indent="0">
              <a:lnSpc>
                <a:spcPct val="130000"/>
              </a:lnSpc>
              <a:buNone/>
            </a:pPr>
            <a:r>
              <a:rPr lang="en-US" sz="1000" dirty="0">
                <a:solidFill>
                  <a:srgbClr val="D1D9E8"/>
                </a:solidFill>
                <a:latin typeface="Calibri" pitchFamily="34" charset="0"/>
                <a:ea typeface="Calibri" pitchFamily="34" charset="-122"/>
                <a:cs typeface="Calibri" pitchFamily="34" charset="-120"/>
              </a:rPr>
              <a:t>After merging all tables, the final cleaned dataset contains 64,104 records with 20 features ready for EDA.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MONTHLY REVENUE TREND</a:t>
            </a:r>
            <a:endParaRPr lang="en-US" sz="28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graphicFrame>
        <p:nvGraphicFramePr>
          <p:cNvPr id="5" name="Chart 0"/>
          <p:cNvGraphicFramePr/>
          <p:nvPr/>
        </p:nvGraphicFramePr>
        <p:xfrm>
          <a:off x="365760" y="1097280"/>
          <a:ext cx="84124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60" y="3977640"/>
            <a:ext cx="8412480" cy="1005840"/>
          </a:xfrm>
          <a:prstGeom prst="rect">
            <a:avLst/>
          </a:prstGeom>
          <a:solidFill>
            <a:srgbClr val="1B3A6B"/>
          </a:solidFill>
          <a:ln/>
        </p:spPr>
        <p:txBody>
          <a:bodyPr/>
          <a:lstStyle/>
          <a:p>
            <a:endParaRPr lang="en-IN"/>
          </a:p>
        </p:txBody>
      </p:sp>
      <p:sp>
        <p:nvSpPr>
          <p:cNvPr id="7" name="Shape 4"/>
          <p:cNvSpPr/>
          <p:nvPr/>
        </p:nvSpPr>
        <p:spPr>
          <a:xfrm>
            <a:off x="365760" y="3977640"/>
            <a:ext cx="64008" cy="1005840"/>
          </a:xfrm>
          <a:prstGeom prst="rect">
            <a:avLst/>
          </a:prstGeom>
          <a:solidFill>
            <a:srgbClr val="F59E0B"/>
          </a:solidFill>
          <a:ln/>
        </p:spPr>
        <p:txBody>
          <a:bodyPr/>
          <a:lstStyle/>
          <a:p>
            <a:endParaRPr lang="en-IN"/>
          </a:p>
        </p:txBody>
      </p:sp>
      <p:sp>
        <p:nvSpPr>
          <p:cNvPr id="8" name="Text 5"/>
          <p:cNvSpPr/>
          <p:nvPr/>
        </p:nvSpPr>
        <p:spPr>
          <a:xfrm>
            <a:off x="548640" y="4023360"/>
            <a:ext cx="8229600" cy="320040"/>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Key Insight</a:t>
            </a:r>
            <a:endParaRPr lang="en-US" sz="1100" dirty="0"/>
          </a:p>
        </p:txBody>
      </p:sp>
      <p:sp>
        <p:nvSpPr>
          <p:cNvPr id="9" name="Text 6"/>
          <p:cNvSpPr/>
          <p:nvPr/>
        </p:nvSpPr>
        <p:spPr>
          <a:xfrm>
            <a:off x="548640" y="4352544"/>
            <a:ext cx="8229600" cy="548640"/>
          </a:xfrm>
          <a:prstGeom prst="rect">
            <a:avLst/>
          </a:prstGeom>
          <a:noFill/>
          <a:ln/>
        </p:spPr>
        <p:txBody>
          <a:bodyPr wrap="square" lIns="0" tIns="0" rIns="0" bIns="0" rtlCol="0" anchor="ctr"/>
          <a:lstStyle/>
          <a:p>
            <a:pPr marL="0" indent="0">
              <a:lnSpc>
                <a:spcPct val="130000"/>
              </a:lnSpc>
              <a:buNone/>
            </a:pPr>
            <a:r>
              <a:rPr lang="en-US" sz="1050" dirty="0">
                <a:solidFill>
                  <a:srgbClr val="D1D9E8"/>
                </a:solidFill>
                <a:latin typeface="Calibri" pitchFamily="34" charset="0"/>
                <a:ea typeface="Calibri" pitchFamily="34" charset="-122"/>
                <a:cs typeface="Calibri" pitchFamily="34" charset="-120"/>
              </a:rPr>
              <a:t>Revenue cycles consistently between $23M–$26M/month. Peaks: May–June &amp; Nov. Troughs: January &amp; February each year. A sharp dip in early 2017 is a notable outlier requiring further investigation.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SEASONAL SALES PATTERN (Excl. 2018)</a:t>
            </a:r>
            <a:endParaRPr lang="en-US" sz="26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graphicFrame>
        <p:nvGraphicFramePr>
          <p:cNvPr id="5" name="Chart 0"/>
          <p:cNvGraphicFramePr/>
          <p:nvPr/>
        </p:nvGraphicFramePr>
        <p:xfrm>
          <a:off x="365760" y="1097280"/>
          <a:ext cx="5669280" cy="29260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263640" y="1143000"/>
            <a:ext cx="2560320" cy="658368"/>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7" name="Text 4"/>
          <p:cNvSpPr/>
          <p:nvPr/>
        </p:nvSpPr>
        <p:spPr>
          <a:xfrm>
            <a:off x="6355080" y="1197864"/>
            <a:ext cx="2377440" cy="256032"/>
          </a:xfrm>
          <a:prstGeom prst="rect">
            <a:avLst/>
          </a:prstGeom>
          <a:noFill/>
          <a:ln/>
        </p:spPr>
        <p:txBody>
          <a:bodyPr wrap="square" lIns="0" tIns="0" rIns="0" bIns="0" rtlCol="0" anchor="ctr"/>
          <a:lstStyle/>
          <a:p>
            <a:pPr marL="0" indent="0">
              <a:buNone/>
            </a:pPr>
            <a:r>
              <a:rPr lang="en-US" sz="1000" b="1" dirty="0">
                <a:solidFill>
                  <a:srgbClr val="10B981"/>
                </a:solidFill>
                <a:latin typeface="Calibri" pitchFamily="34" charset="0"/>
                <a:ea typeface="Calibri" pitchFamily="34" charset="-122"/>
                <a:cs typeface="Calibri" pitchFamily="34" charset="-120"/>
              </a:rPr>
              <a:t>📈 Peak Months</a:t>
            </a:r>
            <a:endParaRPr lang="en-US" sz="1000" dirty="0"/>
          </a:p>
        </p:txBody>
      </p:sp>
      <p:sp>
        <p:nvSpPr>
          <p:cNvPr id="8" name="Text 5"/>
          <p:cNvSpPr/>
          <p:nvPr/>
        </p:nvSpPr>
        <p:spPr>
          <a:xfrm>
            <a:off x="6355080" y="1472184"/>
            <a:ext cx="2377440" cy="25603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May, Aug &amp; Nov</a:t>
            </a:r>
            <a:endParaRPr lang="en-US" sz="1100" dirty="0"/>
          </a:p>
        </p:txBody>
      </p:sp>
      <p:sp>
        <p:nvSpPr>
          <p:cNvPr id="9" name="Shape 6"/>
          <p:cNvSpPr/>
          <p:nvPr/>
        </p:nvSpPr>
        <p:spPr>
          <a:xfrm>
            <a:off x="6263640" y="1920240"/>
            <a:ext cx="2560320" cy="658368"/>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0" name="Text 7"/>
          <p:cNvSpPr/>
          <p:nvPr/>
        </p:nvSpPr>
        <p:spPr>
          <a:xfrm>
            <a:off x="6355080" y="1975104"/>
            <a:ext cx="2377440" cy="256032"/>
          </a:xfrm>
          <a:prstGeom prst="rect">
            <a:avLst/>
          </a:prstGeom>
          <a:noFill/>
          <a:ln/>
        </p:spPr>
        <p:txBody>
          <a:bodyPr wrap="square" lIns="0" tIns="0" rIns="0" bIns="0" rtlCol="0" anchor="ctr"/>
          <a:lstStyle/>
          <a:p>
            <a:pPr marL="0" indent="0">
              <a:buNone/>
            </a:pPr>
            <a:r>
              <a:rPr lang="en-US" sz="1000" b="1" dirty="0">
                <a:solidFill>
                  <a:srgbClr val="F43F5E"/>
                </a:solidFill>
                <a:latin typeface="Calibri" pitchFamily="34" charset="0"/>
                <a:ea typeface="Calibri" pitchFamily="34" charset="-122"/>
                <a:cs typeface="Calibri" pitchFamily="34" charset="-120"/>
              </a:rPr>
              <a:t>📉 Trough Months</a:t>
            </a:r>
            <a:endParaRPr lang="en-US" sz="1000" dirty="0"/>
          </a:p>
        </p:txBody>
      </p:sp>
      <p:sp>
        <p:nvSpPr>
          <p:cNvPr id="11" name="Text 8"/>
          <p:cNvSpPr/>
          <p:nvPr/>
        </p:nvSpPr>
        <p:spPr>
          <a:xfrm>
            <a:off x="6355080" y="2249424"/>
            <a:ext cx="2377440" cy="25603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Feb &amp; Apr</a:t>
            </a:r>
            <a:endParaRPr lang="en-US" sz="1100" dirty="0"/>
          </a:p>
        </p:txBody>
      </p:sp>
      <p:sp>
        <p:nvSpPr>
          <p:cNvPr id="12" name="Shape 9"/>
          <p:cNvSpPr/>
          <p:nvPr/>
        </p:nvSpPr>
        <p:spPr>
          <a:xfrm>
            <a:off x="6263640" y="2697480"/>
            <a:ext cx="2560320" cy="658368"/>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3" name="Text 10"/>
          <p:cNvSpPr/>
          <p:nvPr/>
        </p:nvSpPr>
        <p:spPr>
          <a:xfrm>
            <a:off x="6355080" y="2752344"/>
            <a:ext cx="2377440" cy="256032"/>
          </a:xfrm>
          <a:prstGeom prst="rect">
            <a:avLst/>
          </a:prstGeom>
          <a:noFill/>
          <a:ln/>
        </p:spPr>
        <p:txBody>
          <a:bodyPr wrap="square" lIns="0" tIns="0" rIns="0" bIns="0" rtlCol="0" anchor="ctr"/>
          <a:lstStyle/>
          <a:p>
            <a:pPr marL="0" indent="0">
              <a:buNone/>
            </a:pPr>
            <a:r>
              <a:rPr lang="en-US" sz="1000" b="1" dirty="0">
                <a:solidFill>
                  <a:srgbClr val="0EA5E9"/>
                </a:solidFill>
                <a:latin typeface="Calibri" pitchFamily="34" charset="0"/>
                <a:ea typeface="Calibri" pitchFamily="34" charset="-122"/>
                <a:cs typeface="Calibri" pitchFamily="34" charset="-120"/>
              </a:rPr>
              <a:t>🔄 Pattern Type</a:t>
            </a:r>
            <a:endParaRPr lang="en-US" sz="1000" dirty="0"/>
          </a:p>
        </p:txBody>
      </p:sp>
      <p:sp>
        <p:nvSpPr>
          <p:cNvPr id="14" name="Text 11"/>
          <p:cNvSpPr/>
          <p:nvPr/>
        </p:nvSpPr>
        <p:spPr>
          <a:xfrm>
            <a:off x="6355080" y="3026664"/>
            <a:ext cx="2377440" cy="25603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Bimodal seasonal cycle</a:t>
            </a:r>
            <a:endParaRPr lang="en-US" sz="1100" dirty="0"/>
          </a:p>
        </p:txBody>
      </p:sp>
      <p:sp>
        <p:nvSpPr>
          <p:cNvPr id="15" name="Shape 12"/>
          <p:cNvSpPr/>
          <p:nvPr/>
        </p:nvSpPr>
        <p:spPr>
          <a:xfrm>
            <a:off x="6263640" y="3474720"/>
            <a:ext cx="2560320" cy="658368"/>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6" name="Text 13"/>
          <p:cNvSpPr/>
          <p:nvPr/>
        </p:nvSpPr>
        <p:spPr>
          <a:xfrm>
            <a:off x="6355080" y="3529584"/>
            <a:ext cx="2377440" cy="25603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 Jan Spike</a:t>
            </a:r>
            <a:endParaRPr lang="en-US" sz="1000" dirty="0"/>
          </a:p>
        </p:txBody>
      </p:sp>
      <p:sp>
        <p:nvSpPr>
          <p:cNvPr id="17" name="Text 14"/>
          <p:cNvSpPr/>
          <p:nvPr/>
        </p:nvSpPr>
        <p:spPr>
          <a:xfrm>
            <a:off x="6355080" y="3803904"/>
            <a:ext cx="2377440" cy="256032"/>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~$99M post-NY surge</a:t>
            </a:r>
            <a:endParaRPr lang="en-US" sz="1100" dirty="0"/>
          </a:p>
        </p:txBody>
      </p:sp>
      <p:sp>
        <p:nvSpPr>
          <p:cNvPr id="18" name="Shape 15"/>
          <p:cNvSpPr/>
          <p:nvPr/>
        </p:nvSpPr>
        <p:spPr>
          <a:xfrm>
            <a:off x="365760" y="4160520"/>
            <a:ext cx="8412480" cy="777240"/>
          </a:xfrm>
          <a:prstGeom prst="rect">
            <a:avLst/>
          </a:prstGeom>
          <a:solidFill>
            <a:srgbClr val="1B3A6B"/>
          </a:solidFill>
          <a:ln/>
        </p:spPr>
        <p:txBody>
          <a:bodyPr/>
          <a:lstStyle/>
          <a:p>
            <a:endParaRPr lang="en-IN"/>
          </a:p>
        </p:txBody>
      </p:sp>
      <p:sp>
        <p:nvSpPr>
          <p:cNvPr id="19" name="Shape 16"/>
          <p:cNvSpPr/>
          <p:nvPr/>
        </p:nvSpPr>
        <p:spPr>
          <a:xfrm>
            <a:off x="365760" y="4160520"/>
            <a:ext cx="64008" cy="777240"/>
          </a:xfrm>
          <a:prstGeom prst="rect">
            <a:avLst/>
          </a:prstGeom>
          <a:solidFill>
            <a:srgbClr val="0EA5E9"/>
          </a:solidFill>
          <a:ln/>
        </p:spPr>
        <p:txBody>
          <a:bodyPr/>
          <a:lstStyle/>
          <a:p>
            <a:endParaRPr lang="en-IN"/>
          </a:p>
        </p:txBody>
      </p:sp>
      <p:sp>
        <p:nvSpPr>
          <p:cNvPr id="20" name="Text 17"/>
          <p:cNvSpPr/>
          <p:nvPr/>
        </p:nvSpPr>
        <p:spPr>
          <a:xfrm>
            <a:off x="548640" y="4206240"/>
            <a:ext cx="8229600" cy="658368"/>
          </a:xfrm>
          <a:prstGeom prst="rect">
            <a:avLst/>
          </a:prstGeom>
          <a:noFill/>
          <a:ln/>
        </p:spPr>
        <p:txBody>
          <a:bodyPr wrap="square" lIns="0" tIns="0" rIns="0" bIns="0" rtlCol="0" anchor="ctr"/>
          <a:lstStyle/>
          <a:p>
            <a:pPr marL="0" indent="0">
              <a:lnSpc>
                <a:spcPct val="130000"/>
              </a:lnSpc>
              <a:buNone/>
            </a:pPr>
            <a:r>
              <a:rPr lang="en-US" sz="1050" dirty="0">
                <a:solidFill>
                  <a:srgbClr val="D1D9E8"/>
                </a:solidFill>
                <a:latin typeface="Calibri" pitchFamily="34" charset="0"/>
                <a:ea typeface="Calibri" pitchFamily="34" charset="-122"/>
                <a:cs typeface="Calibri" pitchFamily="34" charset="-120"/>
              </a:rPr>
              <a:t>💡  January opens strong (~$99M) before a spring dip in Feb–Apr. Mid-summer and autumn see strong rebounds around $101–102M. Pre-season promotions in Feb and Apr can help smooth the troughs.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TOP 10 PRODUCTS BY REVENUE</a:t>
            </a:r>
            <a:endParaRPr lang="en-US" sz="28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graphicFrame>
        <p:nvGraphicFramePr>
          <p:cNvPr id="5" name="Chart 0"/>
          <p:cNvGraphicFramePr/>
          <p:nvPr/>
        </p:nvGraphicFramePr>
        <p:xfrm>
          <a:off x="365760" y="1051560"/>
          <a:ext cx="548640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035040" y="1051560"/>
            <a:ext cx="2788920" cy="3108960"/>
          </a:xfrm>
          <a:prstGeom prst="rect">
            <a:avLst/>
          </a:prstGeom>
          <a:solidFill>
            <a:srgbClr val="1B3A6B"/>
          </a:solidFill>
          <a:ln/>
        </p:spPr>
        <p:txBody>
          <a:bodyPr/>
          <a:lstStyle/>
          <a:p>
            <a:endParaRPr lang="en-IN"/>
          </a:p>
        </p:txBody>
      </p:sp>
      <p:sp>
        <p:nvSpPr>
          <p:cNvPr id="7" name="Text 4"/>
          <p:cNvSpPr/>
          <p:nvPr/>
        </p:nvSpPr>
        <p:spPr>
          <a:xfrm>
            <a:off x="6172200" y="1143000"/>
            <a:ext cx="2560320" cy="256032"/>
          </a:xfrm>
          <a:prstGeom prst="rect">
            <a:avLst/>
          </a:prstGeom>
          <a:noFill/>
          <a:ln/>
        </p:spPr>
        <p:txBody>
          <a:bodyPr wrap="square" lIns="0" tIns="0" rIns="0" bIns="0" rtlCol="0" anchor="ctr"/>
          <a:lstStyle/>
          <a:p>
            <a:pPr marL="0" indent="0">
              <a:buNone/>
            </a:pPr>
            <a:r>
              <a:rPr lang="en-US" sz="900" b="1" dirty="0">
                <a:solidFill>
                  <a:srgbClr val="0EA5E9"/>
                </a:solidFill>
                <a:latin typeface="Calibri" pitchFamily="34" charset="0"/>
                <a:ea typeface="Calibri" pitchFamily="34" charset="-122"/>
                <a:cs typeface="Calibri" pitchFamily="34" charset="-120"/>
              </a:rPr>
              <a:t>Market Leader</a:t>
            </a:r>
            <a:endParaRPr lang="en-US" sz="900" dirty="0"/>
          </a:p>
        </p:txBody>
      </p:sp>
      <p:sp>
        <p:nvSpPr>
          <p:cNvPr id="8" name="Text 5"/>
          <p:cNvSpPr/>
          <p:nvPr/>
        </p:nvSpPr>
        <p:spPr>
          <a:xfrm>
            <a:off x="6172200" y="1389888"/>
            <a:ext cx="256032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 26</a:t>
            </a:r>
            <a:endParaRPr lang="en-US" sz="1600" dirty="0"/>
          </a:p>
        </p:txBody>
      </p:sp>
      <p:sp>
        <p:nvSpPr>
          <p:cNvPr id="9" name="Text 6"/>
          <p:cNvSpPr/>
          <p:nvPr/>
        </p:nvSpPr>
        <p:spPr>
          <a:xfrm>
            <a:off x="6172200" y="1636776"/>
            <a:ext cx="256032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$118M revenue</a:t>
            </a:r>
            <a:endParaRPr lang="en-US" sz="900" dirty="0"/>
          </a:p>
        </p:txBody>
      </p:sp>
      <p:sp>
        <p:nvSpPr>
          <p:cNvPr id="10" name="Text 7"/>
          <p:cNvSpPr/>
          <p:nvPr/>
        </p:nvSpPr>
        <p:spPr>
          <a:xfrm>
            <a:off x="6172200" y="1874520"/>
            <a:ext cx="2560320" cy="256032"/>
          </a:xfrm>
          <a:prstGeom prst="rect">
            <a:avLst/>
          </a:prstGeom>
          <a:noFill/>
          <a:ln/>
        </p:spPr>
        <p:txBody>
          <a:bodyPr wrap="square" lIns="0" tIns="0" rIns="0" bIns="0" rtlCol="0" anchor="ctr"/>
          <a:lstStyle/>
          <a:p>
            <a:pPr marL="0" indent="0">
              <a:buNone/>
            </a:pPr>
            <a:r>
              <a:rPr lang="en-US" sz="900" b="1" dirty="0">
                <a:solidFill>
                  <a:srgbClr val="0369A1"/>
                </a:solidFill>
                <a:latin typeface="Calibri" pitchFamily="34" charset="0"/>
                <a:ea typeface="Calibri" pitchFamily="34" charset="-122"/>
                <a:cs typeface="Calibri" pitchFamily="34" charset="-120"/>
              </a:rPr>
              <a:t>2nd Place</a:t>
            </a:r>
            <a:endParaRPr lang="en-US" sz="900" dirty="0"/>
          </a:p>
        </p:txBody>
      </p:sp>
      <p:sp>
        <p:nvSpPr>
          <p:cNvPr id="11" name="Text 8"/>
          <p:cNvSpPr/>
          <p:nvPr/>
        </p:nvSpPr>
        <p:spPr>
          <a:xfrm>
            <a:off x="6172200" y="2121408"/>
            <a:ext cx="256032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Product 25</a:t>
            </a:r>
            <a:endParaRPr lang="en-US" sz="1600" dirty="0"/>
          </a:p>
        </p:txBody>
      </p:sp>
      <p:sp>
        <p:nvSpPr>
          <p:cNvPr id="12" name="Text 9"/>
          <p:cNvSpPr/>
          <p:nvPr/>
        </p:nvSpPr>
        <p:spPr>
          <a:xfrm>
            <a:off x="6172200" y="2368296"/>
            <a:ext cx="256032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$110M revenue</a:t>
            </a:r>
            <a:endParaRPr lang="en-US" sz="900" dirty="0"/>
          </a:p>
        </p:txBody>
      </p:sp>
      <p:sp>
        <p:nvSpPr>
          <p:cNvPr id="13" name="Text 10"/>
          <p:cNvSpPr/>
          <p:nvPr/>
        </p:nvSpPr>
        <p:spPr>
          <a:xfrm>
            <a:off x="6172200" y="2606040"/>
            <a:ext cx="2560320" cy="256032"/>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Gap to 3rd</a:t>
            </a:r>
            <a:endParaRPr lang="en-US" sz="900" dirty="0"/>
          </a:p>
        </p:txBody>
      </p:sp>
      <p:sp>
        <p:nvSpPr>
          <p:cNvPr id="14" name="Text 11"/>
          <p:cNvSpPr/>
          <p:nvPr/>
        </p:nvSpPr>
        <p:spPr>
          <a:xfrm>
            <a:off x="6172200" y="2852928"/>
            <a:ext cx="256032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$32M</a:t>
            </a:r>
            <a:endParaRPr lang="en-US" sz="1600" dirty="0"/>
          </a:p>
        </p:txBody>
      </p:sp>
      <p:sp>
        <p:nvSpPr>
          <p:cNvPr id="15" name="Text 12"/>
          <p:cNvSpPr/>
          <p:nvPr/>
        </p:nvSpPr>
        <p:spPr>
          <a:xfrm>
            <a:off x="6172200" y="3099816"/>
            <a:ext cx="256032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Sharp drop-off</a:t>
            </a:r>
            <a:endParaRPr lang="en-US" sz="900" dirty="0"/>
          </a:p>
        </p:txBody>
      </p:sp>
      <p:sp>
        <p:nvSpPr>
          <p:cNvPr id="16" name="Text 13"/>
          <p:cNvSpPr/>
          <p:nvPr/>
        </p:nvSpPr>
        <p:spPr>
          <a:xfrm>
            <a:off x="6172200" y="3337560"/>
            <a:ext cx="2560320" cy="256032"/>
          </a:xfrm>
          <a:prstGeom prst="rect">
            <a:avLst/>
          </a:prstGeom>
          <a:noFill/>
          <a:ln/>
        </p:spPr>
        <p:txBody>
          <a:bodyPr wrap="square" lIns="0" tIns="0" rIns="0" bIns="0" rtlCol="0" anchor="ctr"/>
          <a:lstStyle/>
          <a:p>
            <a:pPr marL="0" indent="0">
              <a:buNone/>
            </a:pPr>
            <a:r>
              <a:rPr lang="en-US" sz="900" b="1" dirty="0">
                <a:solidFill>
                  <a:srgbClr val="F43F5E"/>
                </a:solidFill>
                <a:latin typeface="Calibri" pitchFamily="34" charset="0"/>
                <a:ea typeface="Calibri" pitchFamily="34" charset="-122"/>
                <a:cs typeface="Calibri" pitchFamily="34" charset="-120"/>
              </a:rPr>
              <a:t>Bottom 4 Band</a:t>
            </a:r>
            <a:endParaRPr lang="en-US" sz="900" dirty="0"/>
          </a:p>
        </p:txBody>
      </p:sp>
      <p:sp>
        <p:nvSpPr>
          <p:cNvPr id="17" name="Text 14"/>
          <p:cNvSpPr/>
          <p:nvPr/>
        </p:nvSpPr>
        <p:spPr>
          <a:xfrm>
            <a:off x="6172200" y="3584448"/>
            <a:ext cx="256032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$52–$57M</a:t>
            </a:r>
            <a:endParaRPr lang="en-US" sz="1600" dirty="0"/>
          </a:p>
        </p:txBody>
      </p:sp>
      <p:sp>
        <p:nvSpPr>
          <p:cNvPr id="18" name="Text 15"/>
          <p:cNvSpPr/>
          <p:nvPr/>
        </p:nvSpPr>
        <p:spPr>
          <a:xfrm>
            <a:off x="6172200" y="3831336"/>
            <a:ext cx="256032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Similar constraints</a:t>
            </a:r>
            <a:endParaRPr lang="en-US" sz="900" dirty="0"/>
          </a:p>
        </p:txBody>
      </p:sp>
      <p:sp>
        <p:nvSpPr>
          <p:cNvPr id="19" name="Shape 16"/>
          <p:cNvSpPr/>
          <p:nvPr/>
        </p:nvSpPr>
        <p:spPr>
          <a:xfrm>
            <a:off x="365760" y="4279392"/>
            <a:ext cx="8412480" cy="713232"/>
          </a:xfrm>
          <a:prstGeom prst="rect">
            <a:avLst/>
          </a:prstGeom>
          <a:solidFill>
            <a:srgbClr val="1E3A5A"/>
          </a:solidFill>
          <a:ln/>
        </p:spPr>
        <p:txBody>
          <a:bodyPr/>
          <a:lstStyle/>
          <a:p>
            <a:endParaRPr lang="en-IN"/>
          </a:p>
        </p:txBody>
      </p:sp>
      <p:sp>
        <p:nvSpPr>
          <p:cNvPr id="20" name="Text 17"/>
          <p:cNvSpPr/>
          <p:nvPr/>
        </p:nvSpPr>
        <p:spPr>
          <a:xfrm>
            <a:off x="548640" y="4315968"/>
            <a:ext cx="8229600" cy="621792"/>
          </a:xfrm>
          <a:prstGeom prst="rect">
            <a:avLst/>
          </a:prstGeom>
          <a:noFill/>
          <a:ln/>
        </p:spPr>
        <p:txBody>
          <a:bodyPr wrap="square" lIns="0" tIns="0" rIns="0" bIns="0" rtlCol="0" anchor="ctr"/>
          <a:lstStyle/>
          <a:p>
            <a:pPr marL="0" indent="0">
              <a:lnSpc>
                <a:spcPct val="130000"/>
              </a:lnSpc>
              <a:buNone/>
            </a:pPr>
            <a:r>
              <a:rPr lang="en-US" sz="1050" dirty="0">
                <a:solidFill>
                  <a:srgbClr val="D1D9E8"/>
                </a:solidFill>
                <a:latin typeface="Calibri" pitchFamily="34" charset="0"/>
                <a:ea typeface="Calibri" pitchFamily="34" charset="-122"/>
                <a:cs typeface="Calibri" pitchFamily="34" charset="-120"/>
              </a:rPr>
              <a:t>💡  Products 26 &amp; 25 dominate revenue. The mid-tier ($68–$75M) represents growth opportunity through targeted promotions, while lower earners should be assessed for efficiency and rationalization.</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600" b="1" kern="0" spc="200" dirty="0">
                <a:solidFill>
                  <a:srgbClr val="FFFFFF"/>
                </a:solidFill>
                <a:latin typeface="Calibri" pitchFamily="34" charset="0"/>
                <a:ea typeface="Calibri" pitchFamily="34" charset="-122"/>
                <a:cs typeface="Calibri" pitchFamily="34" charset="-120"/>
              </a:rPr>
              <a:t>PRODUCT PROFIT MARGIN ANALYSIS</a:t>
            </a:r>
            <a:endParaRPr lang="en-US" sz="2600" dirty="0"/>
          </a:p>
        </p:txBody>
      </p:sp>
      <p:sp>
        <p:nvSpPr>
          <p:cNvPr id="4" name="Shape 2"/>
          <p:cNvSpPr/>
          <p:nvPr/>
        </p:nvSpPr>
        <p:spPr>
          <a:xfrm>
            <a:off x="0" y="960120"/>
            <a:ext cx="9144000" cy="45720"/>
          </a:xfrm>
          <a:prstGeom prst="rect">
            <a:avLst/>
          </a:prstGeom>
          <a:solidFill>
            <a:srgbClr val="10B981"/>
          </a:solidFill>
          <a:ln/>
        </p:spPr>
        <p:txBody>
          <a:bodyPr/>
          <a:lstStyle/>
          <a:p>
            <a:endParaRPr lang="en-IN"/>
          </a:p>
        </p:txBody>
      </p:sp>
      <p:graphicFrame>
        <p:nvGraphicFramePr>
          <p:cNvPr id="5" name="Chart 0"/>
          <p:cNvGraphicFramePr/>
          <p:nvPr/>
        </p:nvGraphicFramePr>
        <p:xfrm>
          <a:off x="365760" y="1051560"/>
          <a:ext cx="841248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365760" y="4069080"/>
            <a:ext cx="2651760" cy="86868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7" name="Text 4"/>
          <p:cNvSpPr/>
          <p:nvPr/>
        </p:nvSpPr>
        <p:spPr>
          <a:xfrm>
            <a:off x="502920" y="4133088"/>
            <a:ext cx="2377440" cy="246888"/>
          </a:xfrm>
          <a:prstGeom prst="rect">
            <a:avLst/>
          </a:prstGeom>
          <a:noFill/>
          <a:ln/>
        </p:spPr>
        <p:txBody>
          <a:bodyPr wrap="square" lIns="0" tIns="0" rIns="0" bIns="0" rtlCol="0" anchor="ctr"/>
          <a:lstStyle/>
          <a:p>
            <a:pPr marL="0" indent="0">
              <a:buNone/>
            </a:pPr>
            <a:r>
              <a:rPr lang="en-US" sz="900" b="1" dirty="0">
                <a:solidFill>
                  <a:srgbClr val="10B981"/>
                </a:solidFill>
                <a:latin typeface="Calibri" pitchFamily="34" charset="0"/>
                <a:ea typeface="Calibri" pitchFamily="34" charset="-122"/>
                <a:cs typeface="Calibri" pitchFamily="34" charset="-120"/>
              </a:rPr>
              <a:t>Leaders</a:t>
            </a:r>
            <a:endParaRPr lang="en-US" sz="900" dirty="0"/>
          </a:p>
        </p:txBody>
      </p:sp>
      <p:sp>
        <p:nvSpPr>
          <p:cNvPr id="8" name="Text 5"/>
          <p:cNvSpPr/>
          <p:nvPr/>
        </p:nvSpPr>
        <p:spPr>
          <a:xfrm>
            <a:off x="502920" y="4370832"/>
            <a:ext cx="237744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Products 18 &amp; 28</a:t>
            </a:r>
            <a:endParaRPr lang="en-US" sz="1100" dirty="0"/>
          </a:p>
        </p:txBody>
      </p:sp>
      <p:sp>
        <p:nvSpPr>
          <p:cNvPr id="9" name="Text 6"/>
          <p:cNvSpPr/>
          <p:nvPr/>
        </p:nvSpPr>
        <p:spPr>
          <a:xfrm>
            <a:off x="502920" y="4617720"/>
            <a:ext cx="2377440" cy="246888"/>
          </a:xfrm>
          <a:prstGeom prst="rect">
            <a:avLst/>
          </a:prstGeom>
          <a:noFill/>
          <a:ln/>
        </p:spPr>
        <p:txBody>
          <a:bodyPr wrap="square" lIns="0" tIns="0" rIns="0" bIns="0" rtlCol="0" anchor="ctr"/>
          <a:lstStyle/>
          <a:p>
            <a:pPr marL="0" indent="0">
              <a:buNone/>
            </a:pPr>
            <a:r>
              <a:rPr lang="en-US" sz="850" dirty="0">
                <a:solidFill>
                  <a:srgbClr val="8FA8C8"/>
                </a:solidFill>
                <a:latin typeface="Calibri" pitchFamily="34" charset="0"/>
                <a:ea typeface="Calibri" pitchFamily="34" charset="-122"/>
                <a:cs typeface="Calibri" pitchFamily="34" charset="-120"/>
              </a:rPr>
              <a:t>Avg $8.0–8.3K profit/order</a:t>
            </a:r>
            <a:endParaRPr lang="en-US" sz="850" dirty="0"/>
          </a:p>
        </p:txBody>
      </p:sp>
      <p:sp>
        <p:nvSpPr>
          <p:cNvPr id="10" name="Shape 7"/>
          <p:cNvSpPr/>
          <p:nvPr/>
        </p:nvSpPr>
        <p:spPr>
          <a:xfrm>
            <a:off x="3200400" y="4069080"/>
            <a:ext cx="2651760" cy="86868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1" name="Text 8"/>
          <p:cNvSpPr/>
          <p:nvPr/>
        </p:nvSpPr>
        <p:spPr>
          <a:xfrm>
            <a:off x="3337560" y="4133088"/>
            <a:ext cx="2377440" cy="246888"/>
          </a:xfrm>
          <a:prstGeom prst="rect">
            <a:avLst/>
          </a:prstGeom>
          <a:noFill/>
          <a:ln/>
        </p:spPr>
        <p:txBody>
          <a:bodyPr wrap="square" lIns="0" tIns="0" rIns="0" bIns="0" rtlCol="0" anchor="ctr"/>
          <a:lstStyle/>
          <a:p>
            <a:pPr marL="0" indent="0">
              <a:buNone/>
            </a:pPr>
            <a:r>
              <a:rPr lang="en-US" sz="900" b="1" dirty="0">
                <a:solidFill>
                  <a:srgbClr val="0EA5E9"/>
                </a:solidFill>
                <a:latin typeface="Calibri" pitchFamily="34" charset="0"/>
                <a:ea typeface="Calibri" pitchFamily="34" charset="-122"/>
                <a:cs typeface="Calibri" pitchFamily="34" charset="-120"/>
              </a:rPr>
              <a:t>Mid-Tier</a:t>
            </a:r>
            <a:endParaRPr lang="en-US" sz="900" dirty="0"/>
          </a:p>
        </p:txBody>
      </p:sp>
      <p:sp>
        <p:nvSpPr>
          <p:cNvPr id="12" name="Text 9"/>
          <p:cNvSpPr/>
          <p:nvPr/>
        </p:nvSpPr>
        <p:spPr>
          <a:xfrm>
            <a:off x="3337560" y="4370832"/>
            <a:ext cx="237744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Products 12, 26, 21</a:t>
            </a:r>
            <a:endParaRPr lang="en-US" sz="1100" dirty="0"/>
          </a:p>
        </p:txBody>
      </p:sp>
      <p:sp>
        <p:nvSpPr>
          <p:cNvPr id="13" name="Text 10"/>
          <p:cNvSpPr/>
          <p:nvPr/>
        </p:nvSpPr>
        <p:spPr>
          <a:xfrm>
            <a:off x="3337560" y="4617720"/>
            <a:ext cx="2377440" cy="246888"/>
          </a:xfrm>
          <a:prstGeom prst="rect">
            <a:avLst/>
          </a:prstGeom>
          <a:noFill/>
          <a:ln/>
        </p:spPr>
        <p:txBody>
          <a:bodyPr wrap="square" lIns="0" tIns="0" rIns="0" bIns="0" rtlCol="0" anchor="ctr"/>
          <a:lstStyle/>
          <a:p>
            <a:pPr marL="0" indent="0">
              <a:buNone/>
            </a:pPr>
            <a:r>
              <a:rPr lang="en-US" sz="850" dirty="0">
                <a:solidFill>
                  <a:srgbClr val="8FA8C8"/>
                </a:solidFill>
                <a:latin typeface="Calibri" pitchFamily="34" charset="0"/>
                <a:ea typeface="Calibri" pitchFamily="34" charset="-122"/>
                <a:cs typeface="Calibri" pitchFamily="34" charset="-120"/>
              </a:rPr>
              <a:t>$7.7–7.8K avg profit</a:t>
            </a:r>
            <a:endParaRPr lang="en-US" sz="850" dirty="0"/>
          </a:p>
        </p:txBody>
      </p:sp>
      <p:sp>
        <p:nvSpPr>
          <p:cNvPr id="14" name="Shape 11"/>
          <p:cNvSpPr/>
          <p:nvPr/>
        </p:nvSpPr>
        <p:spPr>
          <a:xfrm>
            <a:off x="6035040" y="4069080"/>
            <a:ext cx="2651760" cy="868680"/>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5" name="Text 12"/>
          <p:cNvSpPr/>
          <p:nvPr/>
        </p:nvSpPr>
        <p:spPr>
          <a:xfrm>
            <a:off x="6172200" y="4133088"/>
            <a:ext cx="2377440" cy="246888"/>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Opportunity</a:t>
            </a:r>
            <a:endParaRPr lang="en-US" sz="900" dirty="0"/>
          </a:p>
        </p:txBody>
      </p:sp>
      <p:sp>
        <p:nvSpPr>
          <p:cNvPr id="16" name="Text 13"/>
          <p:cNvSpPr/>
          <p:nvPr/>
        </p:nvSpPr>
        <p:spPr>
          <a:xfrm>
            <a:off x="6172200" y="4370832"/>
            <a:ext cx="2377440" cy="24688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Products 4, 16 &amp; 1</a:t>
            </a:r>
            <a:endParaRPr lang="en-US" sz="1100" dirty="0"/>
          </a:p>
        </p:txBody>
      </p:sp>
      <p:sp>
        <p:nvSpPr>
          <p:cNvPr id="17" name="Text 14"/>
          <p:cNvSpPr/>
          <p:nvPr/>
        </p:nvSpPr>
        <p:spPr>
          <a:xfrm>
            <a:off x="6172200" y="4617720"/>
            <a:ext cx="2377440" cy="246888"/>
          </a:xfrm>
          <a:prstGeom prst="rect">
            <a:avLst/>
          </a:prstGeom>
          <a:noFill/>
          <a:ln/>
        </p:spPr>
        <p:txBody>
          <a:bodyPr wrap="square" lIns="0" tIns="0" rIns="0" bIns="0" rtlCol="0" anchor="ctr"/>
          <a:lstStyle/>
          <a:p>
            <a:pPr marL="0" indent="0">
              <a:buNone/>
            </a:pPr>
            <a:r>
              <a:rPr lang="en-US" sz="850" dirty="0">
                <a:solidFill>
                  <a:srgbClr val="8FA8C8"/>
                </a:solidFill>
                <a:latin typeface="Calibri" pitchFamily="34" charset="0"/>
                <a:ea typeface="Calibri" pitchFamily="34" charset="-122"/>
                <a:cs typeface="Calibri" pitchFamily="34" charset="-120"/>
              </a:rPr>
              <a:t>$7.4–7.6K — margin uplift potential</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CHANNEL &amp; PRICING ANALYSIS</a:t>
            </a:r>
            <a:endParaRPr lang="en-US" sz="28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graphicFrame>
        <p:nvGraphicFramePr>
          <p:cNvPr id="5" name="Chart 0"/>
          <p:cNvGraphicFramePr/>
          <p:nvPr/>
        </p:nvGraphicFramePr>
        <p:xfrm>
          <a:off x="365760" y="1097280"/>
          <a:ext cx="38404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434840" y="1143000"/>
            <a:ext cx="4389120" cy="822960"/>
          </a:xfrm>
          <a:prstGeom prst="rect">
            <a:avLst/>
          </a:prstGeom>
          <a:solidFill>
            <a:srgbClr val="1B3A6B"/>
          </a:solidFill>
          <a:ln/>
        </p:spPr>
        <p:txBody>
          <a:bodyPr/>
          <a:lstStyle/>
          <a:p>
            <a:endParaRPr lang="en-IN"/>
          </a:p>
        </p:txBody>
      </p:sp>
      <p:sp>
        <p:nvSpPr>
          <p:cNvPr id="7" name="Shape 4"/>
          <p:cNvSpPr/>
          <p:nvPr/>
        </p:nvSpPr>
        <p:spPr>
          <a:xfrm>
            <a:off x="4434840" y="1143000"/>
            <a:ext cx="64008" cy="822960"/>
          </a:xfrm>
          <a:prstGeom prst="rect">
            <a:avLst/>
          </a:prstGeom>
          <a:solidFill>
            <a:srgbClr val="0EA5E9"/>
          </a:solidFill>
          <a:ln/>
        </p:spPr>
        <p:txBody>
          <a:bodyPr/>
          <a:lstStyle/>
          <a:p>
            <a:endParaRPr lang="en-IN"/>
          </a:p>
        </p:txBody>
      </p:sp>
      <p:sp>
        <p:nvSpPr>
          <p:cNvPr id="8" name="Text 5"/>
          <p:cNvSpPr/>
          <p:nvPr/>
        </p:nvSpPr>
        <p:spPr>
          <a:xfrm>
            <a:off x="4617720" y="1234440"/>
            <a:ext cx="41148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Wholesale  54%</a:t>
            </a:r>
            <a:endParaRPr lang="en-US" sz="1400" dirty="0"/>
          </a:p>
        </p:txBody>
      </p:sp>
      <p:sp>
        <p:nvSpPr>
          <p:cNvPr id="9" name="Text 6"/>
          <p:cNvSpPr/>
          <p:nvPr/>
        </p:nvSpPr>
        <p:spPr>
          <a:xfrm>
            <a:off x="4617720" y="1572768"/>
            <a:ext cx="4114800" cy="274320"/>
          </a:xfrm>
          <a:prstGeom prst="rect">
            <a:avLst/>
          </a:prstGeom>
          <a:noFill/>
          <a:ln/>
        </p:spPr>
        <p:txBody>
          <a:bodyPr wrap="square" lIns="0" tIns="0" rIns="0" bIns="0" rtlCol="0" anchor="ctr"/>
          <a:lstStyle/>
          <a:p>
            <a:pPr marL="0" indent="0">
              <a:buNone/>
            </a:pPr>
            <a:r>
              <a:rPr lang="en-US" sz="1050" dirty="0">
                <a:solidFill>
                  <a:srgbClr val="8FA8C8"/>
                </a:solidFill>
                <a:latin typeface="Calibri" pitchFamily="34" charset="0"/>
                <a:ea typeface="Calibri" pitchFamily="34" charset="-122"/>
                <a:cs typeface="Calibri" pitchFamily="34" charset="-120"/>
              </a:rPr>
              <a:t>Dominant channel — bulk domestic orders</a:t>
            </a:r>
            <a:endParaRPr lang="en-US" sz="1050" dirty="0"/>
          </a:p>
        </p:txBody>
      </p:sp>
      <p:sp>
        <p:nvSpPr>
          <p:cNvPr id="10" name="Shape 7"/>
          <p:cNvSpPr/>
          <p:nvPr/>
        </p:nvSpPr>
        <p:spPr>
          <a:xfrm>
            <a:off x="4434840" y="2112264"/>
            <a:ext cx="4389120" cy="822960"/>
          </a:xfrm>
          <a:prstGeom prst="rect">
            <a:avLst/>
          </a:prstGeom>
          <a:solidFill>
            <a:srgbClr val="1B3A6B"/>
          </a:solidFill>
          <a:ln/>
        </p:spPr>
        <p:txBody>
          <a:bodyPr/>
          <a:lstStyle/>
          <a:p>
            <a:endParaRPr lang="en-IN"/>
          </a:p>
        </p:txBody>
      </p:sp>
      <p:sp>
        <p:nvSpPr>
          <p:cNvPr id="11" name="Shape 8"/>
          <p:cNvSpPr/>
          <p:nvPr/>
        </p:nvSpPr>
        <p:spPr>
          <a:xfrm>
            <a:off x="4434840" y="2112264"/>
            <a:ext cx="64008" cy="822960"/>
          </a:xfrm>
          <a:prstGeom prst="rect">
            <a:avLst/>
          </a:prstGeom>
          <a:solidFill>
            <a:srgbClr val="0369A1"/>
          </a:solidFill>
          <a:ln/>
        </p:spPr>
        <p:txBody>
          <a:bodyPr/>
          <a:lstStyle/>
          <a:p>
            <a:endParaRPr lang="en-IN"/>
          </a:p>
        </p:txBody>
      </p:sp>
      <p:sp>
        <p:nvSpPr>
          <p:cNvPr id="12" name="Text 9"/>
          <p:cNvSpPr/>
          <p:nvPr/>
        </p:nvSpPr>
        <p:spPr>
          <a:xfrm>
            <a:off x="4617720" y="2203704"/>
            <a:ext cx="41148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Distributor  31%</a:t>
            </a:r>
            <a:endParaRPr lang="en-US" sz="1400" dirty="0"/>
          </a:p>
        </p:txBody>
      </p:sp>
      <p:sp>
        <p:nvSpPr>
          <p:cNvPr id="13" name="Text 10"/>
          <p:cNvSpPr/>
          <p:nvPr/>
        </p:nvSpPr>
        <p:spPr>
          <a:xfrm>
            <a:off x="4617720" y="2542032"/>
            <a:ext cx="4114800" cy="274320"/>
          </a:xfrm>
          <a:prstGeom prst="rect">
            <a:avLst/>
          </a:prstGeom>
          <a:noFill/>
          <a:ln/>
        </p:spPr>
        <p:txBody>
          <a:bodyPr wrap="square" lIns="0" tIns="0" rIns="0" bIns="0" rtlCol="0" anchor="ctr"/>
          <a:lstStyle/>
          <a:p>
            <a:pPr marL="0" indent="0">
              <a:buNone/>
            </a:pPr>
            <a:r>
              <a:rPr lang="en-US" sz="1050" dirty="0">
                <a:solidFill>
                  <a:srgbClr val="8FA8C8"/>
                </a:solidFill>
                <a:latin typeface="Calibri" pitchFamily="34" charset="0"/>
                <a:ea typeface="Calibri" pitchFamily="34" charset="-122"/>
                <a:cs typeface="Calibri" pitchFamily="34" charset="-120"/>
              </a:rPr>
              <a:t>Strong partner network domestically</a:t>
            </a:r>
            <a:endParaRPr lang="en-US" sz="1050" dirty="0"/>
          </a:p>
        </p:txBody>
      </p:sp>
      <p:sp>
        <p:nvSpPr>
          <p:cNvPr id="14" name="Shape 11"/>
          <p:cNvSpPr/>
          <p:nvPr/>
        </p:nvSpPr>
        <p:spPr>
          <a:xfrm>
            <a:off x="4434840" y="3081528"/>
            <a:ext cx="4389120" cy="822960"/>
          </a:xfrm>
          <a:prstGeom prst="rect">
            <a:avLst/>
          </a:prstGeom>
          <a:solidFill>
            <a:srgbClr val="1B3A6B"/>
          </a:solidFill>
          <a:ln/>
        </p:spPr>
        <p:txBody>
          <a:bodyPr/>
          <a:lstStyle/>
          <a:p>
            <a:endParaRPr lang="en-IN"/>
          </a:p>
        </p:txBody>
      </p:sp>
      <p:sp>
        <p:nvSpPr>
          <p:cNvPr id="15" name="Shape 12"/>
          <p:cNvSpPr/>
          <p:nvPr/>
        </p:nvSpPr>
        <p:spPr>
          <a:xfrm>
            <a:off x="4434840" y="3081528"/>
            <a:ext cx="64008" cy="822960"/>
          </a:xfrm>
          <a:prstGeom prst="rect">
            <a:avLst/>
          </a:prstGeom>
          <a:solidFill>
            <a:srgbClr val="7DD3FC"/>
          </a:solidFill>
          <a:ln/>
        </p:spPr>
        <p:txBody>
          <a:bodyPr/>
          <a:lstStyle/>
          <a:p>
            <a:endParaRPr lang="en-IN"/>
          </a:p>
        </p:txBody>
      </p:sp>
      <p:sp>
        <p:nvSpPr>
          <p:cNvPr id="16" name="Text 13"/>
          <p:cNvSpPr/>
          <p:nvPr/>
        </p:nvSpPr>
        <p:spPr>
          <a:xfrm>
            <a:off x="4617720" y="3172968"/>
            <a:ext cx="4114800" cy="27432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Export  15%</a:t>
            </a:r>
            <a:endParaRPr lang="en-US" sz="1400" dirty="0"/>
          </a:p>
        </p:txBody>
      </p:sp>
      <p:sp>
        <p:nvSpPr>
          <p:cNvPr id="17" name="Text 14"/>
          <p:cNvSpPr/>
          <p:nvPr/>
        </p:nvSpPr>
        <p:spPr>
          <a:xfrm>
            <a:off x="4617720" y="3511296"/>
            <a:ext cx="4114800" cy="274320"/>
          </a:xfrm>
          <a:prstGeom prst="rect">
            <a:avLst/>
          </a:prstGeom>
          <a:noFill/>
          <a:ln/>
        </p:spPr>
        <p:txBody>
          <a:bodyPr wrap="square" lIns="0" tIns="0" rIns="0" bIns="0" rtlCol="0" anchor="ctr"/>
          <a:lstStyle/>
          <a:p>
            <a:pPr marL="0" indent="0">
              <a:buNone/>
            </a:pPr>
            <a:r>
              <a:rPr lang="en-US" sz="1050" dirty="0">
                <a:solidFill>
                  <a:srgbClr val="8FA8C8"/>
                </a:solidFill>
                <a:latin typeface="Calibri" pitchFamily="34" charset="0"/>
                <a:ea typeface="Calibri" pitchFamily="34" charset="-122"/>
                <a:cs typeface="Calibri" pitchFamily="34" charset="-120"/>
              </a:rPr>
              <a:t>Untapped growth — international markets</a:t>
            </a:r>
            <a:endParaRPr lang="en-US" sz="1050" dirty="0"/>
          </a:p>
        </p:txBody>
      </p:sp>
      <p:sp>
        <p:nvSpPr>
          <p:cNvPr id="18" name="Shape 15"/>
          <p:cNvSpPr/>
          <p:nvPr/>
        </p:nvSpPr>
        <p:spPr>
          <a:xfrm>
            <a:off x="4434840" y="4069080"/>
            <a:ext cx="4389120" cy="822960"/>
          </a:xfrm>
          <a:prstGeom prst="rect">
            <a:avLst/>
          </a:prstGeom>
          <a:solidFill>
            <a:srgbClr val="1E3A5A"/>
          </a:solidFill>
          <a:ln/>
        </p:spPr>
        <p:txBody>
          <a:bodyPr/>
          <a:lstStyle/>
          <a:p>
            <a:endParaRPr lang="en-IN"/>
          </a:p>
        </p:txBody>
      </p:sp>
      <p:sp>
        <p:nvSpPr>
          <p:cNvPr id="19" name="Text 16"/>
          <p:cNvSpPr/>
          <p:nvPr/>
        </p:nvSpPr>
        <p:spPr>
          <a:xfrm>
            <a:off x="4617720" y="4114800"/>
            <a:ext cx="4114800" cy="274320"/>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Average Order Value Distribution</a:t>
            </a:r>
            <a:endParaRPr lang="en-US" sz="1100" dirty="0"/>
          </a:p>
        </p:txBody>
      </p:sp>
      <p:sp>
        <p:nvSpPr>
          <p:cNvPr id="20" name="Text 17"/>
          <p:cNvSpPr/>
          <p:nvPr/>
        </p:nvSpPr>
        <p:spPr>
          <a:xfrm>
            <a:off x="4617720" y="4407408"/>
            <a:ext cx="4114800" cy="411480"/>
          </a:xfrm>
          <a:prstGeom prst="rect">
            <a:avLst/>
          </a:prstGeom>
          <a:noFill/>
          <a:ln/>
        </p:spPr>
        <p:txBody>
          <a:bodyPr wrap="square" lIns="0" tIns="0" rIns="0" bIns="0" rtlCol="0" anchor="ctr"/>
          <a:lstStyle/>
          <a:p>
            <a:pPr marL="0" indent="0">
              <a:buNone/>
            </a:pPr>
            <a:r>
              <a:rPr lang="en-US" sz="1000" dirty="0">
                <a:solidFill>
                  <a:srgbClr val="D1D9E8"/>
                </a:solidFill>
                <a:latin typeface="Calibri" pitchFamily="34" charset="0"/>
                <a:ea typeface="Calibri" pitchFamily="34" charset="-122"/>
                <a:cs typeface="Calibri" pitchFamily="34" charset="-120"/>
              </a:rPr>
              <a:t>Most orders cluster $20K–$120K  |  Mode: ~$50–60K  |  High-value tail to $500K</a:t>
            </a:r>
            <a:endParaRPr lang="en-US" sz="1000" dirty="0"/>
          </a:p>
        </p:txBody>
      </p:sp>
      <p:sp>
        <p:nvSpPr>
          <p:cNvPr id="21" name="Shape 18"/>
          <p:cNvSpPr/>
          <p:nvPr/>
        </p:nvSpPr>
        <p:spPr>
          <a:xfrm>
            <a:off x="365760" y="4251960"/>
            <a:ext cx="3886200" cy="685800"/>
          </a:xfrm>
          <a:prstGeom prst="rect">
            <a:avLst/>
          </a:prstGeom>
          <a:solidFill>
            <a:srgbClr val="1E3A5A"/>
          </a:solidFill>
          <a:ln/>
        </p:spPr>
        <p:txBody>
          <a:bodyPr/>
          <a:lstStyle/>
          <a:p>
            <a:endParaRPr lang="en-IN"/>
          </a:p>
        </p:txBody>
      </p:sp>
      <p:sp>
        <p:nvSpPr>
          <p:cNvPr id="22" name="Text 19"/>
          <p:cNvSpPr/>
          <p:nvPr/>
        </p:nvSpPr>
        <p:spPr>
          <a:xfrm>
            <a:off x="502920" y="4279392"/>
            <a:ext cx="3657600" cy="621792"/>
          </a:xfrm>
          <a:prstGeom prst="rect">
            <a:avLst/>
          </a:prstGeom>
          <a:noFill/>
          <a:ln/>
        </p:spPr>
        <p:txBody>
          <a:bodyPr wrap="square" lIns="0" tIns="0" rIns="0" bIns="0" rtlCol="0" anchor="ctr"/>
          <a:lstStyle/>
          <a:p>
            <a:pPr marL="0" indent="0">
              <a:lnSpc>
                <a:spcPct val="130000"/>
              </a:lnSpc>
              <a:buNone/>
            </a:pPr>
            <a:r>
              <a:rPr lang="en-US" sz="1000" dirty="0">
                <a:solidFill>
                  <a:srgbClr val="D1D9E8"/>
                </a:solidFill>
                <a:latin typeface="Calibri" pitchFamily="34" charset="0"/>
                <a:ea typeface="Calibri" pitchFamily="34" charset="-122"/>
                <a:cs typeface="Calibri" pitchFamily="34" charset="-120"/>
              </a:rPr>
              <a:t>💡  Wholesale dominance (54%) creates concentration risk. Expanding Export from 15% via overseas partnerships can unlock significant new revenue.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REGIONAL PERFORMANCE</a:t>
            </a:r>
            <a:endParaRPr lang="en-US" sz="28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graphicFrame>
        <p:nvGraphicFramePr>
          <p:cNvPr id="5" name="Chart 0"/>
          <p:cNvGraphicFramePr/>
          <p:nvPr/>
        </p:nvGraphicFramePr>
        <p:xfrm>
          <a:off x="365760" y="1078992"/>
          <a:ext cx="5029200" cy="25603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5577840" y="1143000"/>
            <a:ext cx="3200400" cy="530352"/>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7" name="Shape 4"/>
          <p:cNvSpPr/>
          <p:nvPr/>
        </p:nvSpPr>
        <p:spPr>
          <a:xfrm>
            <a:off x="5577840" y="1143000"/>
            <a:ext cx="54864" cy="530352"/>
          </a:xfrm>
          <a:prstGeom prst="rect">
            <a:avLst/>
          </a:prstGeom>
          <a:solidFill>
            <a:srgbClr val="0EA5E9"/>
          </a:solidFill>
          <a:ln/>
        </p:spPr>
        <p:txBody>
          <a:bodyPr/>
          <a:lstStyle/>
          <a:p>
            <a:endParaRPr lang="en-IN"/>
          </a:p>
        </p:txBody>
      </p:sp>
      <p:sp>
        <p:nvSpPr>
          <p:cNvPr id="8" name="Text 5"/>
          <p:cNvSpPr/>
          <p:nvPr/>
        </p:nvSpPr>
        <p:spPr>
          <a:xfrm>
            <a:off x="5715000" y="1197864"/>
            <a:ext cx="1371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West</a:t>
            </a:r>
            <a:endParaRPr lang="en-US" sz="1200" dirty="0"/>
          </a:p>
        </p:txBody>
      </p:sp>
      <p:sp>
        <p:nvSpPr>
          <p:cNvPr id="9" name="Text 6"/>
          <p:cNvSpPr/>
          <p:nvPr/>
        </p:nvSpPr>
        <p:spPr>
          <a:xfrm>
            <a:off x="5715000" y="1417320"/>
            <a:ext cx="2926080" cy="210312"/>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$360M  ·  35% of total</a:t>
            </a:r>
            <a:endParaRPr lang="en-US" sz="1000" dirty="0"/>
          </a:p>
        </p:txBody>
      </p:sp>
      <p:sp>
        <p:nvSpPr>
          <p:cNvPr id="10" name="Shape 7"/>
          <p:cNvSpPr/>
          <p:nvPr/>
        </p:nvSpPr>
        <p:spPr>
          <a:xfrm>
            <a:off x="5577840" y="1764792"/>
            <a:ext cx="3200400" cy="530352"/>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1" name="Shape 8"/>
          <p:cNvSpPr/>
          <p:nvPr/>
        </p:nvSpPr>
        <p:spPr>
          <a:xfrm>
            <a:off x="5577840" y="1764792"/>
            <a:ext cx="54864" cy="530352"/>
          </a:xfrm>
          <a:prstGeom prst="rect">
            <a:avLst/>
          </a:prstGeom>
          <a:solidFill>
            <a:srgbClr val="0369A1"/>
          </a:solidFill>
          <a:ln/>
        </p:spPr>
        <p:txBody>
          <a:bodyPr/>
          <a:lstStyle/>
          <a:p>
            <a:endParaRPr lang="en-IN"/>
          </a:p>
        </p:txBody>
      </p:sp>
      <p:sp>
        <p:nvSpPr>
          <p:cNvPr id="12" name="Text 9"/>
          <p:cNvSpPr/>
          <p:nvPr/>
        </p:nvSpPr>
        <p:spPr>
          <a:xfrm>
            <a:off x="5715000" y="1819656"/>
            <a:ext cx="1371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South</a:t>
            </a:r>
            <a:endParaRPr lang="en-US" sz="1200" dirty="0"/>
          </a:p>
        </p:txBody>
      </p:sp>
      <p:sp>
        <p:nvSpPr>
          <p:cNvPr id="13" name="Text 10"/>
          <p:cNvSpPr/>
          <p:nvPr/>
        </p:nvSpPr>
        <p:spPr>
          <a:xfrm>
            <a:off x="5715000" y="2039112"/>
            <a:ext cx="2926080" cy="210312"/>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$325M  ·  32% of total</a:t>
            </a:r>
            <a:endParaRPr lang="en-US" sz="1000" dirty="0"/>
          </a:p>
        </p:txBody>
      </p:sp>
      <p:sp>
        <p:nvSpPr>
          <p:cNvPr id="14" name="Shape 11"/>
          <p:cNvSpPr/>
          <p:nvPr/>
        </p:nvSpPr>
        <p:spPr>
          <a:xfrm>
            <a:off x="5577840" y="2386584"/>
            <a:ext cx="3200400" cy="530352"/>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5" name="Shape 12"/>
          <p:cNvSpPr/>
          <p:nvPr/>
        </p:nvSpPr>
        <p:spPr>
          <a:xfrm>
            <a:off x="5577840" y="2386584"/>
            <a:ext cx="54864" cy="530352"/>
          </a:xfrm>
          <a:prstGeom prst="rect">
            <a:avLst/>
          </a:prstGeom>
          <a:solidFill>
            <a:srgbClr val="0369A1"/>
          </a:solidFill>
          <a:ln/>
        </p:spPr>
        <p:txBody>
          <a:bodyPr/>
          <a:lstStyle/>
          <a:p>
            <a:endParaRPr lang="en-IN"/>
          </a:p>
        </p:txBody>
      </p:sp>
      <p:sp>
        <p:nvSpPr>
          <p:cNvPr id="16" name="Text 13"/>
          <p:cNvSpPr/>
          <p:nvPr/>
        </p:nvSpPr>
        <p:spPr>
          <a:xfrm>
            <a:off x="5715000" y="2441448"/>
            <a:ext cx="1371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Midwest</a:t>
            </a:r>
            <a:endParaRPr lang="en-US" sz="1200" dirty="0"/>
          </a:p>
        </p:txBody>
      </p:sp>
      <p:sp>
        <p:nvSpPr>
          <p:cNvPr id="17" name="Text 14"/>
          <p:cNvSpPr/>
          <p:nvPr/>
        </p:nvSpPr>
        <p:spPr>
          <a:xfrm>
            <a:off x="5715000" y="2660904"/>
            <a:ext cx="2926080" cy="210312"/>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$322M  ·  32% of total</a:t>
            </a:r>
            <a:endParaRPr lang="en-US" sz="1000" dirty="0"/>
          </a:p>
        </p:txBody>
      </p:sp>
      <p:sp>
        <p:nvSpPr>
          <p:cNvPr id="18" name="Shape 15"/>
          <p:cNvSpPr/>
          <p:nvPr/>
        </p:nvSpPr>
        <p:spPr>
          <a:xfrm>
            <a:off x="5577840" y="3008376"/>
            <a:ext cx="3200400" cy="530352"/>
          </a:xfrm>
          <a:prstGeom prst="rect">
            <a:avLst/>
          </a:prstGeom>
          <a:solidFill>
            <a:srgbClr val="0A1628"/>
          </a:solidFill>
          <a:ln/>
          <a:effectLst>
            <a:outerShdw blurRad="101600" dist="38100" dir="8100000" algn="bl" rotWithShape="0">
              <a:srgbClr val="000000">
                <a:alpha val="18000"/>
              </a:srgbClr>
            </a:outerShdw>
          </a:effectLst>
        </p:spPr>
        <p:txBody>
          <a:bodyPr/>
          <a:lstStyle/>
          <a:p>
            <a:endParaRPr lang="en-IN"/>
          </a:p>
        </p:txBody>
      </p:sp>
      <p:sp>
        <p:nvSpPr>
          <p:cNvPr id="19" name="Shape 16"/>
          <p:cNvSpPr/>
          <p:nvPr/>
        </p:nvSpPr>
        <p:spPr>
          <a:xfrm>
            <a:off x="5577840" y="3008376"/>
            <a:ext cx="54864" cy="530352"/>
          </a:xfrm>
          <a:prstGeom prst="rect">
            <a:avLst/>
          </a:prstGeom>
          <a:solidFill>
            <a:srgbClr val="F59E0B"/>
          </a:solidFill>
          <a:ln/>
        </p:spPr>
        <p:txBody>
          <a:bodyPr/>
          <a:lstStyle/>
          <a:p>
            <a:endParaRPr lang="en-IN"/>
          </a:p>
        </p:txBody>
      </p:sp>
      <p:sp>
        <p:nvSpPr>
          <p:cNvPr id="20" name="Text 17"/>
          <p:cNvSpPr/>
          <p:nvPr/>
        </p:nvSpPr>
        <p:spPr>
          <a:xfrm>
            <a:off x="5715000" y="3063240"/>
            <a:ext cx="1371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Northeast</a:t>
            </a:r>
            <a:endParaRPr lang="en-US" sz="1200" dirty="0"/>
          </a:p>
        </p:txBody>
      </p:sp>
      <p:sp>
        <p:nvSpPr>
          <p:cNvPr id="21" name="Text 18"/>
          <p:cNvSpPr/>
          <p:nvPr/>
        </p:nvSpPr>
        <p:spPr>
          <a:xfrm>
            <a:off x="5715000" y="3282696"/>
            <a:ext cx="2926080" cy="210312"/>
          </a:xfrm>
          <a:prstGeom prst="rect">
            <a:avLst/>
          </a:prstGeom>
          <a:noFill/>
          <a:ln/>
        </p:spPr>
        <p:txBody>
          <a:bodyPr wrap="square" lIns="0" tIns="0" rIns="0" bIns="0" rtlCol="0" anchor="ctr"/>
          <a:lstStyle/>
          <a:p>
            <a:pPr marL="0" indent="0">
              <a:buNone/>
            </a:pPr>
            <a:r>
              <a:rPr lang="en-US" sz="1000" dirty="0">
                <a:solidFill>
                  <a:srgbClr val="8FA8C8"/>
                </a:solidFill>
                <a:latin typeface="Calibri" pitchFamily="34" charset="0"/>
                <a:ea typeface="Calibri" pitchFamily="34" charset="-122"/>
                <a:cs typeface="Calibri" pitchFamily="34" charset="-120"/>
              </a:rPr>
              <a:t>$210M  ·  20% of total</a:t>
            </a:r>
            <a:endParaRPr lang="en-US" sz="1000" dirty="0"/>
          </a:p>
        </p:txBody>
      </p:sp>
      <p:sp>
        <p:nvSpPr>
          <p:cNvPr id="22" name="Text 19"/>
          <p:cNvSpPr/>
          <p:nvPr/>
        </p:nvSpPr>
        <p:spPr>
          <a:xfrm>
            <a:off x="5577840" y="3657600"/>
            <a:ext cx="3200400" cy="320040"/>
          </a:xfrm>
          <a:prstGeom prst="rect">
            <a:avLst/>
          </a:prstGeom>
          <a:noFill/>
          <a:ln/>
        </p:spPr>
        <p:txBody>
          <a:bodyPr wrap="square" lIns="0" tIns="0" rIns="0" bIns="0" rtlCol="0" anchor="ctr"/>
          <a:lstStyle/>
          <a:p>
            <a:pPr marL="0" indent="0">
              <a:buNone/>
            </a:pPr>
            <a:r>
              <a:rPr lang="en-US" sz="1200" b="1" dirty="0">
                <a:solidFill>
                  <a:srgbClr val="0A1628"/>
                </a:solidFill>
                <a:latin typeface="Calibri" pitchFamily="34" charset="0"/>
                <a:ea typeface="Calibri" pitchFamily="34" charset="-122"/>
                <a:cs typeface="Calibri" pitchFamily="34" charset="-120"/>
              </a:rPr>
              <a:t>Top States by Revenue</a:t>
            </a:r>
            <a:endParaRPr lang="en-US" sz="1200" dirty="0"/>
          </a:p>
        </p:txBody>
      </p:sp>
      <p:sp>
        <p:nvSpPr>
          <p:cNvPr id="23" name="Shape 20"/>
          <p:cNvSpPr/>
          <p:nvPr/>
        </p:nvSpPr>
        <p:spPr>
          <a:xfrm>
            <a:off x="5577840" y="4023360"/>
            <a:ext cx="3200400" cy="237744"/>
          </a:xfrm>
          <a:prstGeom prst="rect">
            <a:avLst/>
          </a:prstGeom>
          <a:solidFill>
            <a:srgbClr val="E8F0FB"/>
          </a:solidFill>
          <a:ln/>
        </p:spPr>
        <p:txBody>
          <a:bodyPr/>
          <a:lstStyle/>
          <a:p>
            <a:endParaRPr lang="en-IN"/>
          </a:p>
        </p:txBody>
      </p:sp>
      <p:sp>
        <p:nvSpPr>
          <p:cNvPr id="24" name="Text 21"/>
          <p:cNvSpPr/>
          <p:nvPr/>
        </p:nvSpPr>
        <p:spPr>
          <a:xfrm>
            <a:off x="5669280" y="4050792"/>
            <a:ext cx="1645920" cy="201168"/>
          </a:xfrm>
          <a:prstGeom prst="rect">
            <a:avLst/>
          </a:prstGeom>
          <a:noFill/>
          <a:ln/>
        </p:spPr>
        <p:txBody>
          <a:bodyPr wrap="square" lIns="0" tIns="0" rIns="0" bIns="0"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1. California</a:t>
            </a:r>
            <a:endParaRPr lang="en-US" sz="1000" dirty="0"/>
          </a:p>
        </p:txBody>
      </p:sp>
      <p:sp>
        <p:nvSpPr>
          <p:cNvPr id="25" name="Text 22"/>
          <p:cNvSpPr/>
          <p:nvPr/>
        </p:nvSpPr>
        <p:spPr>
          <a:xfrm>
            <a:off x="7360920" y="4050792"/>
            <a:ext cx="731520" cy="20116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$230M</a:t>
            </a:r>
            <a:endParaRPr lang="en-US" sz="1000" dirty="0"/>
          </a:p>
        </p:txBody>
      </p:sp>
      <p:sp>
        <p:nvSpPr>
          <p:cNvPr id="26" name="Text 23"/>
          <p:cNvSpPr/>
          <p:nvPr/>
        </p:nvSpPr>
        <p:spPr>
          <a:xfrm>
            <a:off x="8092440" y="4050792"/>
            <a:ext cx="64008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7,500</a:t>
            </a:r>
            <a:endParaRPr lang="en-US" sz="900" dirty="0"/>
          </a:p>
        </p:txBody>
      </p:sp>
      <p:sp>
        <p:nvSpPr>
          <p:cNvPr id="27" name="Shape 24"/>
          <p:cNvSpPr/>
          <p:nvPr/>
        </p:nvSpPr>
        <p:spPr>
          <a:xfrm>
            <a:off x="5577840" y="4279392"/>
            <a:ext cx="3200400" cy="237744"/>
          </a:xfrm>
          <a:prstGeom prst="rect">
            <a:avLst/>
          </a:prstGeom>
          <a:solidFill>
            <a:srgbClr val="FFFFFF"/>
          </a:solidFill>
          <a:ln/>
        </p:spPr>
        <p:txBody>
          <a:bodyPr/>
          <a:lstStyle/>
          <a:p>
            <a:endParaRPr lang="en-IN"/>
          </a:p>
        </p:txBody>
      </p:sp>
      <p:sp>
        <p:nvSpPr>
          <p:cNvPr id="28" name="Text 25"/>
          <p:cNvSpPr/>
          <p:nvPr/>
        </p:nvSpPr>
        <p:spPr>
          <a:xfrm>
            <a:off x="5669280" y="4306824"/>
            <a:ext cx="1645920" cy="201168"/>
          </a:xfrm>
          <a:prstGeom prst="rect">
            <a:avLst/>
          </a:prstGeom>
          <a:noFill/>
          <a:ln/>
        </p:spPr>
        <p:txBody>
          <a:bodyPr wrap="square" lIns="0" tIns="0" rIns="0" bIns="0"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2. Illinois</a:t>
            </a:r>
            <a:endParaRPr lang="en-US" sz="1000" dirty="0"/>
          </a:p>
        </p:txBody>
      </p:sp>
      <p:sp>
        <p:nvSpPr>
          <p:cNvPr id="29" name="Text 26"/>
          <p:cNvSpPr/>
          <p:nvPr/>
        </p:nvSpPr>
        <p:spPr>
          <a:xfrm>
            <a:off x="7360920" y="4306824"/>
            <a:ext cx="731520" cy="20116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$110M</a:t>
            </a:r>
            <a:endParaRPr lang="en-US" sz="1000" dirty="0"/>
          </a:p>
        </p:txBody>
      </p:sp>
      <p:sp>
        <p:nvSpPr>
          <p:cNvPr id="30" name="Text 27"/>
          <p:cNvSpPr/>
          <p:nvPr/>
        </p:nvSpPr>
        <p:spPr>
          <a:xfrm>
            <a:off x="8092440" y="4306824"/>
            <a:ext cx="64008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4,600</a:t>
            </a:r>
            <a:endParaRPr lang="en-US" sz="900" dirty="0"/>
          </a:p>
        </p:txBody>
      </p:sp>
      <p:sp>
        <p:nvSpPr>
          <p:cNvPr id="31" name="Shape 28"/>
          <p:cNvSpPr/>
          <p:nvPr/>
        </p:nvSpPr>
        <p:spPr>
          <a:xfrm>
            <a:off x="5577840" y="4535424"/>
            <a:ext cx="3200400" cy="237744"/>
          </a:xfrm>
          <a:prstGeom prst="rect">
            <a:avLst/>
          </a:prstGeom>
          <a:solidFill>
            <a:srgbClr val="E8F0FB"/>
          </a:solidFill>
          <a:ln/>
        </p:spPr>
        <p:txBody>
          <a:bodyPr/>
          <a:lstStyle/>
          <a:p>
            <a:endParaRPr lang="en-IN"/>
          </a:p>
        </p:txBody>
      </p:sp>
      <p:sp>
        <p:nvSpPr>
          <p:cNvPr id="32" name="Text 29"/>
          <p:cNvSpPr/>
          <p:nvPr/>
        </p:nvSpPr>
        <p:spPr>
          <a:xfrm>
            <a:off x="5669280" y="4562856"/>
            <a:ext cx="1645920" cy="201168"/>
          </a:xfrm>
          <a:prstGeom prst="rect">
            <a:avLst/>
          </a:prstGeom>
          <a:noFill/>
          <a:ln/>
        </p:spPr>
        <p:txBody>
          <a:bodyPr wrap="square" lIns="0" tIns="0" rIns="0" bIns="0"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3. Florida</a:t>
            </a:r>
            <a:endParaRPr lang="en-US" sz="1000" dirty="0"/>
          </a:p>
        </p:txBody>
      </p:sp>
      <p:sp>
        <p:nvSpPr>
          <p:cNvPr id="33" name="Text 30"/>
          <p:cNvSpPr/>
          <p:nvPr/>
        </p:nvSpPr>
        <p:spPr>
          <a:xfrm>
            <a:off x="7360920" y="4562856"/>
            <a:ext cx="731520" cy="20116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$95M</a:t>
            </a:r>
            <a:endParaRPr lang="en-US" sz="1000" dirty="0"/>
          </a:p>
        </p:txBody>
      </p:sp>
      <p:sp>
        <p:nvSpPr>
          <p:cNvPr id="34" name="Text 31"/>
          <p:cNvSpPr/>
          <p:nvPr/>
        </p:nvSpPr>
        <p:spPr>
          <a:xfrm>
            <a:off x="8092440" y="4562856"/>
            <a:ext cx="64008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4,200</a:t>
            </a:r>
            <a:endParaRPr lang="en-US" sz="900" dirty="0"/>
          </a:p>
        </p:txBody>
      </p:sp>
      <p:sp>
        <p:nvSpPr>
          <p:cNvPr id="35" name="Shape 32"/>
          <p:cNvSpPr/>
          <p:nvPr/>
        </p:nvSpPr>
        <p:spPr>
          <a:xfrm>
            <a:off x="5577840" y="4791456"/>
            <a:ext cx="3200400" cy="237744"/>
          </a:xfrm>
          <a:prstGeom prst="rect">
            <a:avLst/>
          </a:prstGeom>
          <a:solidFill>
            <a:srgbClr val="FFFFFF"/>
          </a:solidFill>
          <a:ln/>
        </p:spPr>
        <p:txBody>
          <a:bodyPr/>
          <a:lstStyle/>
          <a:p>
            <a:endParaRPr lang="en-IN"/>
          </a:p>
        </p:txBody>
      </p:sp>
      <p:sp>
        <p:nvSpPr>
          <p:cNvPr id="36" name="Text 33"/>
          <p:cNvSpPr/>
          <p:nvPr/>
        </p:nvSpPr>
        <p:spPr>
          <a:xfrm>
            <a:off x="5669280" y="4818888"/>
            <a:ext cx="1645920" cy="201168"/>
          </a:xfrm>
          <a:prstGeom prst="rect">
            <a:avLst/>
          </a:prstGeom>
          <a:noFill/>
          <a:ln/>
        </p:spPr>
        <p:txBody>
          <a:bodyPr wrap="square" lIns="0" tIns="0" rIns="0" bIns="0" rtlCol="0" anchor="ctr"/>
          <a:lstStyle/>
          <a:p>
            <a:pPr marL="0" indent="0">
              <a:buNone/>
            </a:pPr>
            <a:r>
              <a:rPr lang="en-US" sz="1000" b="1" dirty="0">
                <a:solidFill>
                  <a:srgbClr val="0A1628"/>
                </a:solidFill>
                <a:latin typeface="Calibri" pitchFamily="34" charset="0"/>
                <a:ea typeface="Calibri" pitchFamily="34" charset="-122"/>
                <a:cs typeface="Calibri" pitchFamily="34" charset="-120"/>
              </a:rPr>
              <a:t>4. Texas</a:t>
            </a:r>
            <a:endParaRPr lang="en-US" sz="1000" dirty="0"/>
          </a:p>
        </p:txBody>
      </p:sp>
      <p:sp>
        <p:nvSpPr>
          <p:cNvPr id="37" name="Text 34"/>
          <p:cNvSpPr/>
          <p:nvPr/>
        </p:nvSpPr>
        <p:spPr>
          <a:xfrm>
            <a:off x="7360920" y="4818888"/>
            <a:ext cx="731520" cy="201168"/>
          </a:xfrm>
          <a:prstGeom prst="rect">
            <a:avLst/>
          </a:prstGeom>
          <a:noFill/>
          <a:ln/>
        </p:spPr>
        <p:txBody>
          <a:bodyPr wrap="square" lIns="0" tIns="0" rIns="0" bIns="0" rtlCol="0" anchor="ctr"/>
          <a:lstStyle/>
          <a:p>
            <a:pPr marL="0" indent="0">
              <a:buNone/>
            </a:pPr>
            <a:r>
              <a:rPr lang="en-US" sz="1000" dirty="0">
                <a:solidFill>
                  <a:srgbClr val="0369A1"/>
                </a:solidFill>
                <a:latin typeface="Calibri" pitchFamily="34" charset="0"/>
                <a:ea typeface="Calibri" pitchFamily="34" charset="-122"/>
                <a:cs typeface="Calibri" pitchFamily="34" charset="-120"/>
              </a:rPr>
              <a:t>$85M</a:t>
            </a:r>
            <a:endParaRPr lang="en-US" sz="1000" dirty="0"/>
          </a:p>
        </p:txBody>
      </p:sp>
      <p:sp>
        <p:nvSpPr>
          <p:cNvPr id="38" name="Text 35"/>
          <p:cNvSpPr/>
          <p:nvPr/>
        </p:nvSpPr>
        <p:spPr>
          <a:xfrm>
            <a:off x="8092440" y="4818888"/>
            <a:ext cx="640080" cy="201168"/>
          </a:xfrm>
          <a:prstGeom prst="rect">
            <a:avLst/>
          </a:prstGeom>
          <a:noFill/>
          <a:ln/>
        </p:spPr>
        <p:txBody>
          <a:bodyPr wrap="square" lIns="0" tIns="0" rIns="0" bIns="0" rtlCol="0" anchor="ctr"/>
          <a:lstStyle/>
          <a:p>
            <a:pPr marL="0" indent="0">
              <a:buNone/>
            </a:pPr>
            <a:r>
              <a:rPr lang="en-US" sz="900" dirty="0">
                <a:solidFill>
                  <a:srgbClr val="8FA8C8"/>
                </a:solidFill>
                <a:latin typeface="Calibri" pitchFamily="34" charset="0"/>
                <a:ea typeface="Calibri" pitchFamily="34" charset="-122"/>
                <a:cs typeface="Calibri" pitchFamily="34" charset="-120"/>
              </a:rPr>
              <a:t>3,600</a:t>
            </a:r>
            <a:endParaRPr lang="en-US" sz="900" dirty="0"/>
          </a:p>
        </p:txBody>
      </p:sp>
      <p:sp>
        <p:nvSpPr>
          <p:cNvPr id="39" name="Shape 36"/>
          <p:cNvSpPr/>
          <p:nvPr/>
        </p:nvSpPr>
        <p:spPr>
          <a:xfrm>
            <a:off x="365760" y="3749040"/>
            <a:ext cx="5029200" cy="1188720"/>
          </a:xfrm>
          <a:prstGeom prst="rect">
            <a:avLst/>
          </a:prstGeom>
          <a:solidFill>
            <a:srgbClr val="1B3A6B"/>
          </a:solidFill>
          <a:ln/>
        </p:spPr>
        <p:txBody>
          <a:bodyPr/>
          <a:lstStyle/>
          <a:p>
            <a:endParaRPr lang="en-IN"/>
          </a:p>
        </p:txBody>
      </p:sp>
      <p:sp>
        <p:nvSpPr>
          <p:cNvPr id="40" name="Shape 37"/>
          <p:cNvSpPr/>
          <p:nvPr/>
        </p:nvSpPr>
        <p:spPr>
          <a:xfrm>
            <a:off x="365760" y="3749040"/>
            <a:ext cx="64008" cy="1188720"/>
          </a:xfrm>
          <a:prstGeom prst="rect">
            <a:avLst/>
          </a:prstGeom>
          <a:solidFill>
            <a:srgbClr val="0EA5E9"/>
          </a:solidFill>
          <a:ln/>
        </p:spPr>
        <p:txBody>
          <a:bodyPr/>
          <a:lstStyle/>
          <a:p>
            <a:endParaRPr lang="en-IN"/>
          </a:p>
        </p:txBody>
      </p:sp>
      <p:sp>
        <p:nvSpPr>
          <p:cNvPr id="41" name="Text 38"/>
          <p:cNvSpPr/>
          <p:nvPr/>
        </p:nvSpPr>
        <p:spPr>
          <a:xfrm>
            <a:off x="548640" y="3794760"/>
            <a:ext cx="4754880" cy="1078992"/>
          </a:xfrm>
          <a:prstGeom prst="rect">
            <a:avLst/>
          </a:prstGeom>
          <a:noFill/>
          <a:ln/>
        </p:spPr>
        <p:txBody>
          <a:bodyPr wrap="square" lIns="0" tIns="0" rIns="0" bIns="0" rtlCol="0" anchor="ctr"/>
          <a:lstStyle/>
          <a:p>
            <a:pPr marL="0" indent="0">
              <a:lnSpc>
                <a:spcPct val="130000"/>
              </a:lnSpc>
              <a:buNone/>
            </a:pPr>
            <a:r>
              <a:rPr lang="en-US" sz="1050" dirty="0">
                <a:solidFill>
                  <a:srgbClr val="D1D9E8"/>
                </a:solidFill>
                <a:latin typeface="Calibri" pitchFamily="34" charset="0"/>
                <a:ea typeface="Calibri" pitchFamily="34" charset="-122"/>
                <a:cs typeface="Calibri" pitchFamily="34" charset="-120"/>
              </a:rPr>
              <a:t>💡  The West leads at ~$360M (35%). South &amp; Midwest are close at ~$322–325M each. The Northeast ($210M, ~20%) is underperforming — a key area for targeted regional expansion and local promotions.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B3A6B"/>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800" b="1" kern="0" spc="200" dirty="0">
                <a:solidFill>
                  <a:srgbClr val="FFFFFF"/>
                </a:solidFill>
                <a:latin typeface="Calibri" pitchFamily="34" charset="0"/>
                <a:ea typeface="Calibri" pitchFamily="34" charset="-122"/>
                <a:cs typeface="Calibri" pitchFamily="34" charset="-120"/>
              </a:rPr>
              <a:t>PRICING &amp; MARGIN INSIGHTS</a:t>
            </a:r>
            <a:endParaRPr lang="en-US" sz="2800" dirty="0"/>
          </a:p>
        </p:txBody>
      </p:sp>
      <p:sp>
        <p:nvSpPr>
          <p:cNvPr id="4" name="Shape 2"/>
          <p:cNvSpPr/>
          <p:nvPr/>
        </p:nvSpPr>
        <p:spPr>
          <a:xfrm>
            <a:off x="0" y="960120"/>
            <a:ext cx="9144000" cy="45720"/>
          </a:xfrm>
          <a:prstGeom prst="rect">
            <a:avLst/>
          </a:prstGeom>
          <a:solidFill>
            <a:srgbClr val="F59E0B"/>
          </a:solidFill>
          <a:ln/>
        </p:spPr>
        <p:txBody>
          <a:bodyPr/>
          <a:lstStyle/>
          <a:p>
            <a:endParaRPr lang="en-IN"/>
          </a:p>
        </p:txBody>
      </p:sp>
      <p:sp>
        <p:nvSpPr>
          <p:cNvPr id="5" name="Shape 3"/>
          <p:cNvSpPr/>
          <p:nvPr/>
        </p:nvSpPr>
        <p:spPr>
          <a:xfrm>
            <a:off x="365760" y="1188720"/>
            <a:ext cx="4206240" cy="109728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6" name="Text 4"/>
          <p:cNvSpPr/>
          <p:nvPr/>
        </p:nvSpPr>
        <p:spPr>
          <a:xfrm>
            <a:off x="502920" y="1280160"/>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  Unit Price Range</a:t>
            </a:r>
            <a:endParaRPr lang="en-US" sz="1200" dirty="0"/>
          </a:p>
        </p:txBody>
      </p:sp>
      <p:sp>
        <p:nvSpPr>
          <p:cNvPr id="7" name="Text 5"/>
          <p:cNvSpPr/>
          <p:nvPr/>
        </p:nvSpPr>
        <p:spPr>
          <a:xfrm>
            <a:off x="502920" y="1572768"/>
            <a:ext cx="3931920" cy="292608"/>
          </a:xfrm>
          <a:prstGeom prst="rect">
            <a:avLst/>
          </a:prstGeom>
          <a:noFill/>
          <a:ln/>
        </p:spPr>
        <p:txBody>
          <a:bodyPr wrap="square" lIns="0" tIns="0" rIns="0" bIns="0" rtlCol="0" anchor="ctr"/>
          <a:lstStyle/>
          <a:p>
            <a:pPr marL="0" indent="0">
              <a:buNone/>
            </a:pPr>
            <a:r>
              <a:rPr lang="en-US" sz="1800" b="1" dirty="0">
                <a:solidFill>
                  <a:srgbClr val="0EA5E9"/>
                </a:solidFill>
                <a:latin typeface="Calibri" pitchFamily="34" charset="0"/>
                <a:ea typeface="Calibri" pitchFamily="34" charset="-122"/>
                <a:cs typeface="Calibri" pitchFamily="34" charset="-120"/>
              </a:rPr>
              <a:t>$167 – $6,566</a:t>
            </a:r>
            <a:endParaRPr lang="en-US" sz="1800" dirty="0"/>
          </a:p>
        </p:txBody>
      </p:sp>
      <p:sp>
        <p:nvSpPr>
          <p:cNvPr id="8" name="Text 6"/>
          <p:cNvSpPr/>
          <p:nvPr/>
        </p:nvSpPr>
        <p:spPr>
          <a:xfrm>
            <a:off x="502920" y="1865376"/>
            <a:ext cx="3931920" cy="365760"/>
          </a:xfrm>
          <a:prstGeom prst="rect">
            <a:avLst/>
          </a:prstGeom>
          <a:noFill/>
          <a:ln/>
        </p:spPr>
        <p:txBody>
          <a:bodyPr wrap="square" lIns="0" tIns="0" rIns="0" bIns="0" rtlCol="0" anchor="ctr"/>
          <a:lstStyle/>
          <a:p>
            <a:pPr marL="0" indent="0">
              <a:lnSpc>
                <a:spcPct val="130000"/>
              </a:lnSpc>
              <a:buNone/>
            </a:pPr>
            <a:r>
              <a:rPr lang="en-US" sz="950" dirty="0">
                <a:solidFill>
                  <a:srgbClr val="8FA8C8"/>
                </a:solidFill>
                <a:latin typeface="Calibri" pitchFamily="34" charset="0"/>
                <a:ea typeface="Calibri" pitchFamily="34" charset="-122"/>
                <a:cs typeface="Calibri" pitchFamily="34" charset="-120"/>
              </a:rPr>
              <a:t>Unit prices span $167 – $6,566 across products. High price spread indicates a diversified product mix from economy to premium.</a:t>
            </a:r>
            <a:endParaRPr lang="en-US" sz="950" dirty="0"/>
          </a:p>
        </p:txBody>
      </p:sp>
      <p:sp>
        <p:nvSpPr>
          <p:cNvPr id="9" name="Shape 7"/>
          <p:cNvSpPr/>
          <p:nvPr/>
        </p:nvSpPr>
        <p:spPr>
          <a:xfrm>
            <a:off x="365760" y="2450592"/>
            <a:ext cx="4206240" cy="109728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0" name="Text 8"/>
          <p:cNvSpPr/>
          <p:nvPr/>
        </p:nvSpPr>
        <p:spPr>
          <a:xfrm>
            <a:off x="502920" y="2542032"/>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  Profit Margin Range</a:t>
            </a:r>
            <a:endParaRPr lang="en-US" sz="1200" dirty="0"/>
          </a:p>
        </p:txBody>
      </p:sp>
      <p:sp>
        <p:nvSpPr>
          <p:cNvPr id="11" name="Text 9"/>
          <p:cNvSpPr/>
          <p:nvPr/>
        </p:nvSpPr>
        <p:spPr>
          <a:xfrm>
            <a:off x="502920" y="2834640"/>
            <a:ext cx="3931920" cy="292608"/>
          </a:xfrm>
          <a:prstGeom prst="rect">
            <a:avLst/>
          </a:prstGeom>
          <a:noFill/>
          <a:ln/>
        </p:spPr>
        <p:txBody>
          <a:bodyPr wrap="square" lIns="0" tIns="0" rIns="0" bIns="0" rtlCol="0" anchor="ctr"/>
          <a:lstStyle/>
          <a:p>
            <a:pPr marL="0" indent="0">
              <a:buNone/>
            </a:pPr>
            <a:r>
              <a:rPr lang="en-US" sz="1800" b="1" dirty="0">
                <a:solidFill>
                  <a:srgbClr val="0EA5E9"/>
                </a:solidFill>
                <a:latin typeface="Calibri" pitchFamily="34" charset="0"/>
                <a:ea typeface="Calibri" pitchFamily="34" charset="-122"/>
                <a:cs typeface="Calibri" pitchFamily="34" charset="-120"/>
              </a:rPr>
              <a:t>18% – 60%</a:t>
            </a:r>
            <a:endParaRPr lang="en-US" sz="1800" dirty="0"/>
          </a:p>
        </p:txBody>
      </p:sp>
      <p:sp>
        <p:nvSpPr>
          <p:cNvPr id="12" name="Text 10"/>
          <p:cNvSpPr/>
          <p:nvPr/>
        </p:nvSpPr>
        <p:spPr>
          <a:xfrm>
            <a:off x="502920" y="3127248"/>
            <a:ext cx="3931920" cy="365760"/>
          </a:xfrm>
          <a:prstGeom prst="rect">
            <a:avLst/>
          </a:prstGeom>
          <a:noFill/>
          <a:ln/>
        </p:spPr>
        <p:txBody>
          <a:bodyPr wrap="square" lIns="0" tIns="0" rIns="0" bIns="0" rtlCol="0" anchor="ctr"/>
          <a:lstStyle/>
          <a:p>
            <a:pPr marL="0" indent="0">
              <a:lnSpc>
                <a:spcPct val="130000"/>
              </a:lnSpc>
              <a:buNone/>
            </a:pPr>
            <a:r>
              <a:rPr lang="en-US" sz="950" dirty="0">
                <a:solidFill>
                  <a:srgbClr val="8FA8C8"/>
                </a:solidFill>
                <a:latin typeface="Calibri" pitchFamily="34" charset="0"/>
                <a:ea typeface="Calibri" pitchFamily="34" charset="-122"/>
                <a:cs typeface="Calibri" pitchFamily="34" charset="-120"/>
              </a:rPr>
              <a:t>Margins concentrate between 18%–60% with no clear correlation to price. Dense horizontal bands suggest uniform pricing strategies.</a:t>
            </a:r>
            <a:endParaRPr lang="en-US" sz="950" dirty="0"/>
          </a:p>
        </p:txBody>
      </p:sp>
      <p:sp>
        <p:nvSpPr>
          <p:cNvPr id="13" name="Shape 11"/>
          <p:cNvSpPr/>
          <p:nvPr/>
        </p:nvSpPr>
        <p:spPr>
          <a:xfrm>
            <a:off x="365760" y="3712464"/>
            <a:ext cx="4206240" cy="1097280"/>
          </a:xfrm>
          <a:prstGeom prst="rect">
            <a:avLst/>
          </a:prstGeom>
          <a:solidFill>
            <a:srgbClr val="1B3A6B"/>
          </a:solidFill>
          <a:ln/>
          <a:effectLst>
            <a:outerShdw blurRad="101600" dist="38100" dir="8100000" algn="bl" rotWithShape="0">
              <a:srgbClr val="000000">
                <a:alpha val="18000"/>
              </a:srgbClr>
            </a:outerShdw>
          </a:effectLst>
        </p:spPr>
        <p:txBody>
          <a:bodyPr/>
          <a:lstStyle/>
          <a:p>
            <a:endParaRPr lang="en-IN"/>
          </a:p>
        </p:txBody>
      </p:sp>
      <p:sp>
        <p:nvSpPr>
          <p:cNvPr id="14" name="Text 12"/>
          <p:cNvSpPr/>
          <p:nvPr/>
        </p:nvSpPr>
        <p:spPr>
          <a:xfrm>
            <a:off x="502920" y="3803904"/>
            <a:ext cx="3931920" cy="292608"/>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  Order Value Distribution</a:t>
            </a:r>
            <a:endParaRPr lang="en-US" sz="1200" dirty="0"/>
          </a:p>
        </p:txBody>
      </p:sp>
      <p:sp>
        <p:nvSpPr>
          <p:cNvPr id="15" name="Text 13"/>
          <p:cNvSpPr/>
          <p:nvPr/>
        </p:nvSpPr>
        <p:spPr>
          <a:xfrm>
            <a:off x="502920" y="4096512"/>
            <a:ext cx="3931920" cy="292608"/>
          </a:xfrm>
          <a:prstGeom prst="rect">
            <a:avLst/>
          </a:prstGeom>
          <a:noFill/>
          <a:ln/>
        </p:spPr>
        <p:txBody>
          <a:bodyPr wrap="square" lIns="0" tIns="0" rIns="0" bIns="0" rtlCol="0" anchor="ctr"/>
          <a:lstStyle/>
          <a:p>
            <a:pPr marL="0" indent="0">
              <a:buNone/>
            </a:pPr>
            <a:r>
              <a:rPr lang="en-US" sz="1800" b="1" dirty="0">
                <a:solidFill>
                  <a:srgbClr val="0EA5E9"/>
                </a:solidFill>
                <a:latin typeface="Calibri" pitchFamily="34" charset="0"/>
                <a:ea typeface="Calibri" pitchFamily="34" charset="-122"/>
                <a:cs typeface="Calibri" pitchFamily="34" charset="-120"/>
              </a:rPr>
              <a:t>Mode: ~$55K</a:t>
            </a:r>
            <a:endParaRPr lang="en-US" sz="1800" dirty="0"/>
          </a:p>
        </p:txBody>
      </p:sp>
      <p:sp>
        <p:nvSpPr>
          <p:cNvPr id="16" name="Text 14"/>
          <p:cNvSpPr/>
          <p:nvPr/>
        </p:nvSpPr>
        <p:spPr>
          <a:xfrm>
            <a:off x="502920" y="4389120"/>
            <a:ext cx="3931920" cy="365760"/>
          </a:xfrm>
          <a:prstGeom prst="rect">
            <a:avLst/>
          </a:prstGeom>
          <a:noFill/>
          <a:ln/>
        </p:spPr>
        <p:txBody>
          <a:bodyPr wrap="square" lIns="0" tIns="0" rIns="0" bIns="0" rtlCol="0" anchor="ctr"/>
          <a:lstStyle/>
          <a:p>
            <a:pPr marL="0" indent="0">
              <a:lnSpc>
                <a:spcPct val="130000"/>
              </a:lnSpc>
              <a:buNone/>
            </a:pPr>
            <a:r>
              <a:rPr lang="en-US" sz="950" dirty="0">
                <a:solidFill>
                  <a:srgbClr val="8FA8C8"/>
                </a:solidFill>
                <a:latin typeface="Calibri" pitchFamily="34" charset="0"/>
                <a:ea typeface="Calibri" pitchFamily="34" charset="-122"/>
                <a:cs typeface="Calibri" pitchFamily="34" charset="-120"/>
              </a:rPr>
              <a:t>Heavily right-skewed; mode at $50–60K. High-value tail extends to ~$500K. Focus upsell strategies on the mid-value segment.</a:t>
            </a:r>
            <a:endParaRPr lang="en-US" sz="950" dirty="0"/>
          </a:p>
        </p:txBody>
      </p:sp>
      <p:sp>
        <p:nvSpPr>
          <p:cNvPr id="17" name="Shape 15"/>
          <p:cNvSpPr/>
          <p:nvPr/>
        </p:nvSpPr>
        <p:spPr>
          <a:xfrm>
            <a:off x="4822665" y="1276979"/>
            <a:ext cx="4023360" cy="1280160"/>
          </a:xfrm>
          <a:prstGeom prst="rect">
            <a:avLst/>
          </a:prstGeom>
          <a:solidFill>
            <a:srgbClr val="1E3A5A"/>
          </a:solidFill>
          <a:ln/>
        </p:spPr>
        <p:txBody>
          <a:bodyPr/>
          <a:lstStyle/>
          <a:p>
            <a:endParaRPr lang="en-IN"/>
          </a:p>
        </p:txBody>
      </p:sp>
      <p:sp>
        <p:nvSpPr>
          <p:cNvPr id="18" name="Shape 16"/>
          <p:cNvSpPr/>
          <p:nvPr/>
        </p:nvSpPr>
        <p:spPr>
          <a:xfrm>
            <a:off x="4838965" y="1283341"/>
            <a:ext cx="64008" cy="1280160"/>
          </a:xfrm>
          <a:prstGeom prst="rect">
            <a:avLst/>
          </a:prstGeom>
          <a:solidFill>
            <a:srgbClr val="F43F5E"/>
          </a:solidFill>
          <a:ln/>
        </p:spPr>
        <p:txBody>
          <a:bodyPr/>
          <a:lstStyle/>
          <a:p>
            <a:endParaRPr lang="en-IN"/>
          </a:p>
        </p:txBody>
      </p:sp>
      <p:sp>
        <p:nvSpPr>
          <p:cNvPr id="19" name="Text 17"/>
          <p:cNvSpPr/>
          <p:nvPr/>
        </p:nvSpPr>
        <p:spPr>
          <a:xfrm>
            <a:off x="4983480" y="1261872"/>
            <a:ext cx="3749040" cy="292608"/>
          </a:xfrm>
          <a:prstGeom prst="rect">
            <a:avLst/>
          </a:prstGeom>
          <a:noFill/>
          <a:ln/>
        </p:spPr>
        <p:txBody>
          <a:bodyPr wrap="square" lIns="0" tIns="0" rIns="0" bIns="0" rtlCol="0" anchor="ctr"/>
          <a:lstStyle/>
          <a:p>
            <a:pPr marL="0" indent="0">
              <a:buNone/>
            </a:pPr>
            <a:r>
              <a:rPr lang="en-US" sz="1200" b="1" dirty="0">
                <a:solidFill>
                  <a:srgbClr val="F43F5E"/>
                </a:solidFill>
                <a:latin typeface="Calibri" pitchFamily="34" charset="0"/>
                <a:ea typeface="Calibri" pitchFamily="34" charset="-122"/>
                <a:cs typeface="Calibri" pitchFamily="34" charset="-120"/>
              </a:rPr>
              <a:t>⚠️  Pricing Outliers to Watch</a:t>
            </a:r>
            <a:endParaRPr lang="en-US" sz="1200" dirty="0"/>
          </a:p>
        </p:txBody>
      </p:sp>
      <p:sp>
        <p:nvSpPr>
          <p:cNvPr id="20" name="Text 18"/>
          <p:cNvSpPr/>
          <p:nvPr/>
        </p:nvSpPr>
        <p:spPr>
          <a:xfrm>
            <a:off x="4983480" y="1600200"/>
            <a:ext cx="3749040" cy="822960"/>
          </a:xfrm>
          <a:prstGeom prst="rect">
            <a:avLst/>
          </a:prstGeom>
          <a:noFill/>
          <a:ln/>
        </p:spPr>
        <p:txBody>
          <a:bodyPr wrap="square" lIns="0" tIns="0" rIns="0" bIns="0" rtlCol="0" anchor="ctr"/>
          <a:lstStyle/>
          <a:p>
            <a:pPr marL="0" indent="0">
              <a:lnSpc>
                <a:spcPct val="140000"/>
              </a:lnSpc>
              <a:buNone/>
            </a:pPr>
            <a:r>
              <a:rPr lang="en-US" sz="1000" dirty="0">
                <a:solidFill>
                  <a:srgbClr val="D1D9E8"/>
                </a:solidFill>
                <a:latin typeface="Calibri" pitchFamily="34" charset="0"/>
                <a:ea typeface="Calibri" pitchFamily="34" charset="-122"/>
                <a:cs typeface="Calibri" pitchFamily="34" charset="-120"/>
              </a:rPr>
              <a:t>Products 8, 17, 20, 27, &amp; 28 show revenue spikes well above upper whiskers — likely bulk/premium orders.</a:t>
            </a:r>
            <a:endParaRPr lang="en-US" sz="1000" dirty="0"/>
          </a:p>
          <a:p>
            <a:pPr marL="0" indent="0">
              <a:lnSpc>
                <a:spcPct val="140000"/>
              </a:lnSpc>
              <a:buNone/>
            </a:pPr>
            <a:endParaRPr lang="en-US" sz="1000" dirty="0"/>
          </a:p>
          <a:p>
            <a:pPr marL="0" indent="0">
              <a:lnSpc>
                <a:spcPct val="140000"/>
              </a:lnSpc>
              <a:buNone/>
            </a:pPr>
            <a:r>
              <a:rPr lang="en-US" sz="1000" dirty="0">
                <a:solidFill>
                  <a:srgbClr val="D1D9E8"/>
                </a:solidFill>
                <a:latin typeface="Calibri" pitchFamily="34" charset="0"/>
                <a:ea typeface="Calibri" pitchFamily="34" charset="-122"/>
                <a:cs typeface="Calibri" pitchFamily="34" charset="-120"/>
              </a:rPr>
              <a:t>Near-zero outliers on Products 20 &amp; 27 may indicate promotional giveaways or test SKUs pulling down average prices.</a:t>
            </a:r>
            <a:endParaRPr lang="en-US" sz="1000" dirty="0"/>
          </a:p>
        </p:txBody>
      </p:sp>
      <p:sp>
        <p:nvSpPr>
          <p:cNvPr id="21" name="Shape 19"/>
          <p:cNvSpPr/>
          <p:nvPr/>
        </p:nvSpPr>
        <p:spPr>
          <a:xfrm>
            <a:off x="4754880" y="2724912"/>
            <a:ext cx="4023360" cy="1801368"/>
          </a:xfrm>
          <a:prstGeom prst="rect">
            <a:avLst/>
          </a:prstGeom>
          <a:solidFill>
            <a:srgbClr val="1E3A5A"/>
          </a:solidFill>
          <a:ln/>
        </p:spPr>
        <p:txBody>
          <a:bodyPr/>
          <a:lstStyle/>
          <a:p>
            <a:endParaRPr lang="en-IN"/>
          </a:p>
        </p:txBody>
      </p:sp>
      <p:sp>
        <p:nvSpPr>
          <p:cNvPr id="22" name="Shape 20"/>
          <p:cNvSpPr/>
          <p:nvPr/>
        </p:nvSpPr>
        <p:spPr>
          <a:xfrm>
            <a:off x="4800600" y="2779776"/>
            <a:ext cx="64008" cy="1691640"/>
          </a:xfrm>
          <a:prstGeom prst="rect">
            <a:avLst/>
          </a:prstGeom>
          <a:solidFill>
            <a:srgbClr val="10B981"/>
          </a:solidFill>
          <a:ln/>
        </p:spPr>
        <p:txBody>
          <a:bodyPr/>
          <a:lstStyle/>
          <a:p>
            <a:endParaRPr lang="en-IN"/>
          </a:p>
        </p:txBody>
      </p:sp>
      <p:sp>
        <p:nvSpPr>
          <p:cNvPr id="23" name="Text 21"/>
          <p:cNvSpPr/>
          <p:nvPr/>
        </p:nvSpPr>
        <p:spPr>
          <a:xfrm>
            <a:off x="4983480" y="2724912"/>
            <a:ext cx="3749040" cy="292608"/>
          </a:xfrm>
          <a:prstGeom prst="rect">
            <a:avLst/>
          </a:prstGeom>
          <a:noFill/>
          <a:ln/>
        </p:spPr>
        <p:txBody>
          <a:bodyPr wrap="square" lIns="0" tIns="0" rIns="0" bIns="0"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Margin Optimization Strategy</a:t>
            </a:r>
            <a:endParaRPr lang="en-US" sz="1200" dirty="0"/>
          </a:p>
        </p:txBody>
      </p:sp>
      <p:sp>
        <p:nvSpPr>
          <p:cNvPr id="24" name="Text 22"/>
          <p:cNvSpPr/>
          <p:nvPr/>
        </p:nvSpPr>
        <p:spPr>
          <a:xfrm>
            <a:off x="4983480" y="3063240"/>
            <a:ext cx="3749040" cy="1143000"/>
          </a:xfrm>
          <a:prstGeom prst="rect">
            <a:avLst/>
          </a:prstGeom>
          <a:noFill/>
          <a:ln/>
        </p:spPr>
        <p:txBody>
          <a:bodyPr wrap="square" lIns="0" tIns="0" rIns="0" bIns="0" rtlCol="0" anchor="ctr"/>
          <a:lstStyle/>
          <a:p>
            <a:pPr marL="0" indent="0">
              <a:lnSpc>
                <a:spcPct val="140000"/>
              </a:lnSpc>
              <a:buNone/>
            </a:pPr>
            <a:r>
              <a:rPr lang="en-US" sz="1000" dirty="0">
                <a:solidFill>
                  <a:srgbClr val="D1D9E8"/>
                </a:solidFill>
                <a:latin typeface="Calibri" pitchFamily="34" charset="0"/>
                <a:ea typeface="Calibri" pitchFamily="34" charset="-122"/>
                <a:cs typeface="Calibri" pitchFamily="34" charset="-120"/>
              </a:rPr>
              <a:t>• Study cost structures of top-margin leaders (Products 18 &amp; 28) and replicate practices across the portfolio.</a:t>
            </a:r>
            <a:endParaRPr lang="en-US" sz="1000" dirty="0"/>
          </a:p>
          <a:p>
            <a:pPr marL="0" indent="0">
              <a:lnSpc>
                <a:spcPct val="140000"/>
              </a:lnSpc>
              <a:buNone/>
            </a:pPr>
            <a:r>
              <a:rPr lang="en-US" sz="1000" dirty="0">
                <a:solidFill>
                  <a:srgbClr val="D1D9E8"/>
                </a:solidFill>
                <a:latin typeface="Calibri" pitchFamily="34" charset="0"/>
                <a:ea typeface="Calibri" pitchFamily="34" charset="-122"/>
                <a:cs typeface="Calibri" pitchFamily="34" charset="-120"/>
              </a:rPr>
              <a:t>• Investigate below-18% margin orders to identify cost inefficiencies.</a:t>
            </a:r>
            <a:endParaRPr lang="en-US" sz="1000" dirty="0"/>
          </a:p>
          <a:p>
            <a:pPr marL="0" indent="0">
              <a:lnSpc>
                <a:spcPct val="140000"/>
              </a:lnSpc>
              <a:buNone/>
            </a:pPr>
            <a:r>
              <a:rPr lang="en-US" sz="1000" dirty="0">
                <a:solidFill>
                  <a:srgbClr val="D1D9E8"/>
                </a:solidFill>
                <a:latin typeface="Calibri" pitchFamily="34" charset="0"/>
                <a:ea typeface="Calibri" pitchFamily="34" charset="-122"/>
                <a:cs typeface="Calibri" pitchFamily="34" charset="-120"/>
              </a:rPr>
              <a:t>• Formalize premium-bundle SKUs from natural outlier transactions to consistently capture high-value segments.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A1628"/>
          </a:solidFill>
          <a:ln/>
        </p:spPr>
        <p:txBody>
          <a:bodyPr/>
          <a:lstStyle/>
          <a:p>
            <a:endParaRPr lang="en-IN"/>
          </a:p>
        </p:txBody>
      </p:sp>
      <p:sp>
        <p:nvSpPr>
          <p:cNvPr id="3" name="Text 1"/>
          <p:cNvSpPr/>
          <p:nvPr/>
        </p:nvSpPr>
        <p:spPr>
          <a:xfrm>
            <a:off x="457200" y="109728"/>
            <a:ext cx="8229600" cy="749808"/>
          </a:xfrm>
          <a:prstGeom prst="rect">
            <a:avLst/>
          </a:prstGeom>
          <a:noFill/>
          <a:ln/>
        </p:spPr>
        <p:txBody>
          <a:bodyPr wrap="square" lIns="0" tIns="0" rIns="0" bIns="0" rtlCol="0" anchor="ctr"/>
          <a:lstStyle/>
          <a:p>
            <a:pPr marL="0" indent="0">
              <a:buNone/>
            </a:pPr>
            <a:r>
              <a:rPr lang="en-US" sz="2400" b="1" kern="0" spc="200" dirty="0">
                <a:solidFill>
                  <a:srgbClr val="FFFFFF"/>
                </a:solidFill>
                <a:latin typeface="Calibri" pitchFamily="34" charset="0"/>
                <a:ea typeface="Calibri" pitchFamily="34" charset="-122"/>
                <a:cs typeface="Calibri" pitchFamily="34" charset="-120"/>
              </a:rPr>
              <a:t>KEY INSIGHTS &amp; RECOMMENDATIONS</a:t>
            </a:r>
            <a:endParaRPr lang="en-US" sz="2400" dirty="0"/>
          </a:p>
        </p:txBody>
      </p:sp>
      <p:sp>
        <p:nvSpPr>
          <p:cNvPr id="4" name="Shape 2"/>
          <p:cNvSpPr/>
          <p:nvPr/>
        </p:nvSpPr>
        <p:spPr>
          <a:xfrm>
            <a:off x="0" y="960120"/>
            <a:ext cx="9144000" cy="45720"/>
          </a:xfrm>
          <a:prstGeom prst="rect">
            <a:avLst/>
          </a:prstGeom>
          <a:solidFill>
            <a:srgbClr val="0EA5E9"/>
          </a:solidFill>
          <a:ln/>
        </p:spPr>
        <p:txBody>
          <a:bodyPr/>
          <a:lstStyle/>
          <a:p>
            <a:endParaRPr lang="en-IN"/>
          </a:p>
        </p:txBody>
      </p:sp>
      <p:sp>
        <p:nvSpPr>
          <p:cNvPr id="5" name="Shape 3"/>
          <p:cNvSpPr/>
          <p:nvPr/>
        </p:nvSpPr>
        <p:spPr>
          <a:xfrm>
            <a:off x="320040" y="1097280"/>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6" name="Shape 4"/>
          <p:cNvSpPr/>
          <p:nvPr/>
        </p:nvSpPr>
        <p:spPr>
          <a:xfrm>
            <a:off x="320040" y="1097280"/>
            <a:ext cx="64008" cy="1170432"/>
          </a:xfrm>
          <a:prstGeom prst="rect">
            <a:avLst/>
          </a:prstGeom>
          <a:solidFill>
            <a:srgbClr val="0EA5E9"/>
          </a:solidFill>
          <a:ln/>
        </p:spPr>
        <p:txBody>
          <a:bodyPr/>
          <a:lstStyle/>
          <a:p>
            <a:endParaRPr lang="en-IN"/>
          </a:p>
        </p:txBody>
      </p:sp>
      <p:sp>
        <p:nvSpPr>
          <p:cNvPr id="7" name="Text 5"/>
          <p:cNvSpPr/>
          <p:nvPr/>
        </p:nvSpPr>
        <p:spPr>
          <a:xfrm>
            <a:off x="484632" y="1170432"/>
            <a:ext cx="3931920" cy="256032"/>
          </a:xfrm>
          <a:prstGeom prst="rect">
            <a:avLst/>
          </a:prstGeom>
          <a:noFill/>
          <a:ln/>
        </p:spPr>
        <p:txBody>
          <a:bodyPr wrap="square" lIns="0" tIns="0" rIns="0" bIns="0" rtlCol="0" anchor="ctr"/>
          <a:lstStyle/>
          <a:p>
            <a:pPr marL="0" indent="0">
              <a:buNone/>
            </a:pPr>
            <a:r>
              <a:rPr lang="en-US" sz="1100" b="1" dirty="0">
                <a:solidFill>
                  <a:srgbClr val="0EA5E9"/>
                </a:solidFill>
                <a:latin typeface="Calibri" pitchFamily="34" charset="0"/>
                <a:ea typeface="Calibri" pitchFamily="34" charset="-122"/>
                <a:cs typeface="Calibri" pitchFamily="34" charset="-120"/>
              </a:rPr>
              <a:t>📦  Product Strategy</a:t>
            </a:r>
            <a:endParaRPr lang="en-US" sz="1100" dirty="0"/>
          </a:p>
        </p:txBody>
      </p:sp>
      <p:sp>
        <p:nvSpPr>
          <p:cNvPr id="8" name="Text 6"/>
          <p:cNvSpPr/>
          <p:nvPr/>
        </p:nvSpPr>
        <p:spPr>
          <a:xfrm>
            <a:off x="484632" y="1444752"/>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Products 26 &amp; 25 drive 60%+ of top-10 revenue</a:t>
            </a:r>
            <a:endParaRPr lang="en-US" sz="950" dirty="0"/>
          </a:p>
        </p:txBody>
      </p:sp>
      <p:sp>
        <p:nvSpPr>
          <p:cNvPr id="9" name="Text 7"/>
          <p:cNvSpPr/>
          <p:nvPr/>
        </p:nvSpPr>
        <p:spPr>
          <a:xfrm>
            <a:off x="484632" y="1682496"/>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Increase marketing spend on leaders; launch growth pilots for mid-tier ($68–75M) products</a:t>
            </a:r>
            <a:endParaRPr lang="en-US" sz="950" dirty="0"/>
          </a:p>
        </p:txBody>
      </p:sp>
      <p:sp>
        <p:nvSpPr>
          <p:cNvPr id="10" name="Shape 8"/>
          <p:cNvSpPr/>
          <p:nvPr/>
        </p:nvSpPr>
        <p:spPr>
          <a:xfrm>
            <a:off x="4754880" y="1097280"/>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11" name="Shape 9"/>
          <p:cNvSpPr/>
          <p:nvPr/>
        </p:nvSpPr>
        <p:spPr>
          <a:xfrm>
            <a:off x="4754880" y="1097280"/>
            <a:ext cx="64008" cy="1170432"/>
          </a:xfrm>
          <a:prstGeom prst="rect">
            <a:avLst/>
          </a:prstGeom>
          <a:solidFill>
            <a:srgbClr val="F59E0B"/>
          </a:solidFill>
          <a:ln/>
        </p:spPr>
        <p:txBody>
          <a:bodyPr/>
          <a:lstStyle/>
          <a:p>
            <a:endParaRPr lang="en-IN"/>
          </a:p>
        </p:txBody>
      </p:sp>
      <p:sp>
        <p:nvSpPr>
          <p:cNvPr id="12" name="Text 10"/>
          <p:cNvSpPr/>
          <p:nvPr/>
        </p:nvSpPr>
        <p:spPr>
          <a:xfrm>
            <a:off x="4919472" y="1170432"/>
            <a:ext cx="393192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  Seasonality</a:t>
            </a:r>
            <a:endParaRPr lang="en-US" sz="1100" dirty="0"/>
          </a:p>
        </p:txBody>
      </p:sp>
      <p:sp>
        <p:nvSpPr>
          <p:cNvPr id="13" name="Text 11"/>
          <p:cNvSpPr/>
          <p:nvPr/>
        </p:nvSpPr>
        <p:spPr>
          <a:xfrm>
            <a:off x="4919472" y="1444752"/>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Feb &amp; Apr are structural revenue troughs every year</a:t>
            </a:r>
            <a:endParaRPr lang="en-US" sz="950" dirty="0"/>
          </a:p>
        </p:txBody>
      </p:sp>
      <p:sp>
        <p:nvSpPr>
          <p:cNvPr id="14" name="Text 12"/>
          <p:cNvSpPr/>
          <p:nvPr/>
        </p:nvSpPr>
        <p:spPr>
          <a:xfrm>
            <a:off x="4919472" y="1682496"/>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Deploy targeted promotions and channel incentives in Q1 to smooth the seasonal dip</a:t>
            </a:r>
            <a:endParaRPr lang="en-US" sz="950" dirty="0"/>
          </a:p>
        </p:txBody>
      </p:sp>
      <p:sp>
        <p:nvSpPr>
          <p:cNvPr id="15" name="Shape 13"/>
          <p:cNvSpPr/>
          <p:nvPr/>
        </p:nvSpPr>
        <p:spPr>
          <a:xfrm>
            <a:off x="320040" y="2404872"/>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16" name="Shape 14"/>
          <p:cNvSpPr/>
          <p:nvPr/>
        </p:nvSpPr>
        <p:spPr>
          <a:xfrm>
            <a:off x="320040" y="2404872"/>
            <a:ext cx="64008" cy="1170432"/>
          </a:xfrm>
          <a:prstGeom prst="rect">
            <a:avLst/>
          </a:prstGeom>
          <a:solidFill>
            <a:srgbClr val="F43F5E"/>
          </a:solidFill>
          <a:ln/>
        </p:spPr>
        <p:txBody>
          <a:bodyPr/>
          <a:lstStyle/>
          <a:p>
            <a:endParaRPr lang="en-IN"/>
          </a:p>
        </p:txBody>
      </p:sp>
      <p:sp>
        <p:nvSpPr>
          <p:cNvPr id="17" name="Text 15"/>
          <p:cNvSpPr/>
          <p:nvPr/>
        </p:nvSpPr>
        <p:spPr>
          <a:xfrm>
            <a:off x="484632" y="2478024"/>
            <a:ext cx="3931920" cy="256032"/>
          </a:xfrm>
          <a:prstGeom prst="rect">
            <a:avLst/>
          </a:prstGeom>
          <a:noFill/>
          <a:ln/>
        </p:spPr>
        <p:txBody>
          <a:bodyPr wrap="square" lIns="0" tIns="0" rIns="0" bIns="0" rtlCol="0" anchor="ctr"/>
          <a:lstStyle/>
          <a:p>
            <a:pPr marL="0" indent="0">
              <a:buNone/>
            </a:pPr>
            <a:r>
              <a:rPr lang="en-US" sz="1100" b="1" dirty="0">
                <a:solidFill>
                  <a:srgbClr val="F43F5E"/>
                </a:solidFill>
                <a:latin typeface="Calibri" pitchFamily="34" charset="0"/>
                <a:ea typeface="Calibri" pitchFamily="34" charset="-122"/>
                <a:cs typeface="Calibri" pitchFamily="34" charset="-120"/>
              </a:rPr>
              <a:t>🚢  Channel Diversification</a:t>
            </a:r>
            <a:endParaRPr lang="en-US" sz="1100" dirty="0"/>
          </a:p>
        </p:txBody>
      </p:sp>
      <p:sp>
        <p:nvSpPr>
          <p:cNvPr id="18" name="Text 16"/>
          <p:cNvSpPr/>
          <p:nvPr/>
        </p:nvSpPr>
        <p:spPr>
          <a:xfrm>
            <a:off x="484632" y="2752344"/>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Wholesale at 54% creates concentration risk</a:t>
            </a:r>
            <a:endParaRPr lang="en-US" sz="950" dirty="0"/>
          </a:p>
        </p:txBody>
      </p:sp>
      <p:sp>
        <p:nvSpPr>
          <p:cNvPr id="19" name="Text 17"/>
          <p:cNvSpPr/>
          <p:nvPr/>
        </p:nvSpPr>
        <p:spPr>
          <a:xfrm>
            <a:off x="484632" y="2990088"/>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Grow Export from 15% via overseas marketing, trade shows &amp; strategic distributor partnerships</a:t>
            </a:r>
            <a:endParaRPr lang="en-US" sz="950" dirty="0"/>
          </a:p>
        </p:txBody>
      </p:sp>
      <p:sp>
        <p:nvSpPr>
          <p:cNvPr id="20" name="Shape 18"/>
          <p:cNvSpPr/>
          <p:nvPr/>
        </p:nvSpPr>
        <p:spPr>
          <a:xfrm>
            <a:off x="4754880" y="2404872"/>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21" name="Shape 19"/>
          <p:cNvSpPr/>
          <p:nvPr/>
        </p:nvSpPr>
        <p:spPr>
          <a:xfrm>
            <a:off x="4754880" y="2404872"/>
            <a:ext cx="64008" cy="1170432"/>
          </a:xfrm>
          <a:prstGeom prst="rect">
            <a:avLst/>
          </a:prstGeom>
          <a:solidFill>
            <a:srgbClr val="10B981"/>
          </a:solidFill>
          <a:ln/>
        </p:spPr>
        <p:txBody>
          <a:bodyPr/>
          <a:lstStyle/>
          <a:p>
            <a:endParaRPr lang="en-IN"/>
          </a:p>
        </p:txBody>
      </p:sp>
      <p:sp>
        <p:nvSpPr>
          <p:cNvPr id="22" name="Text 20"/>
          <p:cNvSpPr/>
          <p:nvPr/>
        </p:nvSpPr>
        <p:spPr>
          <a:xfrm>
            <a:off x="4919472" y="2478024"/>
            <a:ext cx="3931920" cy="256032"/>
          </a:xfrm>
          <a:prstGeom prst="rect">
            <a:avLst/>
          </a:prstGeom>
          <a:noFill/>
          <a:ln/>
        </p:spPr>
        <p:txBody>
          <a:bodyPr wrap="square" lIns="0" tIns="0" rIns="0" bIns="0" rtlCol="0" anchor="ctr"/>
          <a:lstStyle/>
          <a:p>
            <a:pPr marL="0" indent="0">
              <a:buNone/>
            </a:pPr>
            <a:r>
              <a:rPr lang="en-US" sz="1100" b="1" dirty="0">
                <a:solidFill>
                  <a:srgbClr val="10B981"/>
                </a:solidFill>
                <a:latin typeface="Calibri" pitchFamily="34" charset="0"/>
                <a:ea typeface="Calibri" pitchFamily="34" charset="-122"/>
                <a:cs typeface="Calibri" pitchFamily="34" charset="-120"/>
              </a:rPr>
              <a:t>🗺️  Regional Expansion</a:t>
            </a:r>
            <a:endParaRPr lang="en-US" sz="1100" dirty="0"/>
          </a:p>
        </p:txBody>
      </p:sp>
      <p:sp>
        <p:nvSpPr>
          <p:cNvPr id="23" name="Text 21"/>
          <p:cNvSpPr/>
          <p:nvPr/>
        </p:nvSpPr>
        <p:spPr>
          <a:xfrm>
            <a:off x="4919472" y="2752344"/>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Northeast lags at 20% while West leads at 35%</a:t>
            </a:r>
            <a:endParaRPr lang="en-US" sz="950" dirty="0"/>
          </a:p>
        </p:txBody>
      </p:sp>
      <p:sp>
        <p:nvSpPr>
          <p:cNvPr id="24" name="Text 22"/>
          <p:cNvSpPr/>
          <p:nvPr/>
        </p:nvSpPr>
        <p:spPr>
          <a:xfrm>
            <a:off x="4919472" y="2990088"/>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Target Northeast with localized campaigns &amp; value-bundled offers to close the performance gap</a:t>
            </a:r>
            <a:endParaRPr lang="en-US" sz="950" dirty="0"/>
          </a:p>
        </p:txBody>
      </p:sp>
      <p:sp>
        <p:nvSpPr>
          <p:cNvPr id="25" name="Shape 23"/>
          <p:cNvSpPr/>
          <p:nvPr/>
        </p:nvSpPr>
        <p:spPr>
          <a:xfrm>
            <a:off x="320040" y="3712464"/>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26" name="Shape 24"/>
          <p:cNvSpPr/>
          <p:nvPr/>
        </p:nvSpPr>
        <p:spPr>
          <a:xfrm>
            <a:off x="320040" y="3712464"/>
            <a:ext cx="64008" cy="1170432"/>
          </a:xfrm>
          <a:prstGeom prst="rect">
            <a:avLst/>
          </a:prstGeom>
          <a:solidFill>
            <a:srgbClr val="9B59B6"/>
          </a:solidFill>
          <a:ln/>
        </p:spPr>
        <p:txBody>
          <a:bodyPr/>
          <a:lstStyle/>
          <a:p>
            <a:endParaRPr lang="en-IN"/>
          </a:p>
        </p:txBody>
      </p:sp>
      <p:sp>
        <p:nvSpPr>
          <p:cNvPr id="27" name="Text 25"/>
          <p:cNvSpPr/>
          <p:nvPr/>
        </p:nvSpPr>
        <p:spPr>
          <a:xfrm>
            <a:off x="484632" y="3785616"/>
            <a:ext cx="3931920" cy="256032"/>
          </a:xfrm>
          <a:prstGeom prst="rect">
            <a:avLst/>
          </a:prstGeom>
          <a:noFill/>
          <a:ln/>
        </p:spPr>
        <p:txBody>
          <a:bodyPr wrap="square" lIns="0" tIns="0" rIns="0" bIns="0" rtlCol="0" anchor="ctr"/>
          <a:lstStyle/>
          <a:p>
            <a:pPr marL="0" indent="0">
              <a:buNone/>
            </a:pPr>
            <a:r>
              <a:rPr lang="en-US" sz="1100" b="1" dirty="0">
                <a:solidFill>
                  <a:srgbClr val="9B59B6"/>
                </a:solidFill>
                <a:latin typeface="Calibri" pitchFamily="34" charset="0"/>
                <a:ea typeface="Calibri" pitchFamily="34" charset="-122"/>
                <a:cs typeface="Calibri" pitchFamily="34" charset="-120"/>
              </a:rPr>
              <a:t>💰  Pricing &amp; Margins</a:t>
            </a:r>
            <a:endParaRPr lang="en-US" sz="1100" dirty="0"/>
          </a:p>
        </p:txBody>
      </p:sp>
      <p:sp>
        <p:nvSpPr>
          <p:cNvPr id="28" name="Text 26"/>
          <p:cNvSpPr/>
          <p:nvPr/>
        </p:nvSpPr>
        <p:spPr>
          <a:xfrm>
            <a:off x="484632" y="4059936"/>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Margins 18–60% with pricing outliers on several products</a:t>
            </a:r>
            <a:endParaRPr lang="en-US" sz="950" dirty="0"/>
          </a:p>
        </p:txBody>
      </p:sp>
      <p:sp>
        <p:nvSpPr>
          <p:cNvPr id="29" name="Text 27"/>
          <p:cNvSpPr/>
          <p:nvPr/>
        </p:nvSpPr>
        <p:spPr>
          <a:xfrm>
            <a:off x="484632" y="4297680"/>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Formalize premium bundles; audit near-zero price outliers; replicate high-margin cost structures</a:t>
            </a:r>
            <a:endParaRPr lang="en-US" sz="950" dirty="0"/>
          </a:p>
        </p:txBody>
      </p:sp>
      <p:sp>
        <p:nvSpPr>
          <p:cNvPr id="30" name="Shape 28"/>
          <p:cNvSpPr/>
          <p:nvPr/>
        </p:nvSpPr>
        <p:spPr>
          <a:xfrm>
            <a:off x="4754880" y="3712464"/>
            <a:ext cx="4251960" cy="1170432"/>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IN"/>
          </a:p>
        </p:txBody>
      </p:sp>
      <p:sp>
        <p:nvSpPr>
          <p:cNvPr id="31" name="Shape 29"/>
          <p:cNvSpPr/>
          <p:nvPr/>
        </p:nvSpPr>
        <p:spPr>
          <a:xfrm>
            <a:off x="4754880" y="3712464"/>
            <a:ext cx="64008" cy="1170432"/>
          </a:xfrm>
          <a:prstGeom prst="rect">
            <a:avLst/>
          </a:prstGeom>
          <a:solidFill>
            <a:srgbClr val="F43F5E"/>
          </a:solidFill>
          <a:ln/>
        </p:spPr>
        <p:txBody>
          <a:bodyPr/>
          <a:lstStyle/>
          <a:p>
            <a:endParaRPr lang="en-IN"/>
          </a:p>
        </p:txBody>
      </p:sp>
      <p:sp>
        <p:nvSpPr>
          <p:cNvPr id="32" name="Text 30"/>
          <p:cNvSpPr/>
          <p:nvPr/>
        </p:nvSpPr>
        <p:spPr>
          <a:xfrm>
            <a:off x="4919472" y="3785616"/>
            <a:ext cx="3931920" cy="256032"/>
          </a:xfrm>
          <a:prstGeom prst="rect">
            <a:avLst/>
          </a:prstGeom>
          <a:noFill/>
          <a:ln/>
        </p:spPr>
        <p:txBody>
          <a:bodyPr wrap="square" lIns="0" tIns="0" rIns="0" bIns="0" rtlCol="0" anchor="ctr"/>
          <a:lstStyle/>
          <a:p>
            <a:pPr marL="0" indent="0">
              <a:buNone/>
            </a:pPr>
            <a:r>
              <a:rPr lang="en-US" sz="1100" b="1" dirty="0">
                <a:solidFill>
                  <a:srgbClr val="F43F5E"/>
                </a:solidFill>
                <a:latin typeface="Calibri" pitchFamily="34" charset="0"/>
                <a:ea typeface="Calibri" pitchFamily="34" charset="-122"/>
                <a:cs typeface="Calibri" pitchFamily="34" charset="-120"/>
              </a:rPr>
              <a:t>⚠️  2017 Anomaly</a:t>
            </a:r>
            <a:endParaRPr lang="en-US" sz="1100" dirty="0"/>
          </a:p>
        </p:txBody>
      </p:sp>
      <p:sp>
        <p:nvSpPr>
          <p:cNvPr id="33" name="Text 31"/>
          <p:cNvSpPr/>
          <p:nvPr/>
        </p:nvSpPr>
        <p:spPr>
          <a:xfrm>
            <a:off x="4919472" y="4059936"/>
            <a:ext cx="3931920" cy="228600"/>
          </a:xfrm>
          <a:prstGeom prst="rect">
            <a:avLst/>
          </a:prstGeom>
          <a:noFill/>
          <a:ln/>
        </p:spPr>
        <p:txBody>
          <a:bodyPr wrap="square" lIns="0" tIns="0" rIns="0" bIns="0" rtlCol="0" anchor="ctr"/>
          <a:lstStyle/>
          <a:p>
            <a:pPr marL="0" indent="0">
              <a:buNone/>
            </a:pPr>
            <a:r>
              <a:rPr lang="en-US" sz="950" dirty="0">
                <a:solidFill>
                  <a:srgbClr val="0A1628"/>
                </a:solidFill>
                <a:latin typeface="Calibri" pitchFamily="34" charset="0"/>
                <a:ea typeface="Calibri" pitchFamily="34" charset="-122"/>
                <a:cs typeface="Calibri" pitchFamily="34" charset="-120"/>
              </a:rPr>
              <a:t>📍 Sharp revenue dip in early 2017 is an outlier</a:t>
            </a:r>
            <a:endParaRPr lang="en-US" sz="950" dirty="0"/>
          </a:p>
        </p:txBody>
      </p:sp>
      <p:sp>
        <p:nvSpPr>
          <p:cNvPr id="34" name="Text 32"/>
          <p:cNvSpPr/>
          <p:nvPr/>
        </p:nvSpPr>
        <p:spPr>
          <a:xfrm>
            <a:off x="4919472" y="4297680"/>
            <a:ext cx="3931920" cy="502920"/>
          </a:xfrm>
          <a:prstGeom prst="rect">
            <a:avLst/>
          </a:prstGeom>
          <a:noFill/>
          <a:ln/>
        </p:spPr>
        <p:txBody>
          <a:bodyPr wrap="square" lIns="0" tIns="0" rIns="0" bIns="0" rtlCol="0" anchor="ctr"/>
          <a:lstStyle/>
          <a:p>
            <a:pPr marL="0" indent="0">
              <a:lnSpc>
                <a:spcPct val="130000"/>
              </a:lnSpc>
              <a:buNone/>
            </a:pPr>
            <a:r>
              <a:rPr lang="en-US" sz="950" dirty="0">
                <a:solidFill>
                  <a:srgbClr val="475569"/>
                </a:solidFill>
                <a:latin typeface="Calibri" pitchFamily="34" charset="0"/>
                <a:ea typeface="Calibri" pitchFamily="34" charset="-122"/>
                <a:cs typeface="Calibri" pitchFamily="34" charset="-120"/>
              </a:rPr>
              <a:t>→ Conduct root-cause analysis — market disruption, supply chain issues, or mistimed promotions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457200" y="-457200"/>
            <a:ext cx="3657600" cy="3657600"/>
          </a:xfrm>
          <a:prstGeom prst="ellipse">
            <a:avLst/>
          </a:prstGeom>
          <a:solidFill>
            <a:srgbClr val="1B3A6B"/>
          </a:solidFill>
          <a:ln w="25400">
            <a:solidFill>
              <a:srgbClr val="0EA5E9"/>
            </a:solidFill>
            <a:prstDash val="solid"/>
          </a:ln>
        </p:spPr>
        <p:txBody>
          <a:bodyPr/>
          <a:lstStyle/>
          <a:p>
            <a:endParaRPr lang="en-IN"/>
          </a:p>
        </p:txBody>
      </p:sp>
      <p:sp>
        <p:nvSpPr>
          <p:cNvPr id="3" name="Shape 1"/>
          <p:cNvSpPr/>
          <p:nvPr/>
        </p:nvSpPr>
        <p:spPr>
          <a:xfrm>
            <a:off x="6858000" y="2560320"/>
            <a:ext cx="2743200" cy="2743200"/>
          </a:xfrm>
          <a:prstGeom prst="ellipse">
            <a:avLst/>
          </a:prstGeom>
          <a:solidFill>
            <a:srgbClr val="0369A1">
              <a:alpha val="30000"/>
            </a:srgbClr>
          </a:solidFill>
          <a:ln w="12700">
            <a:solidFill>
              <a:srgbClr val="0EA5E9"/>
            </a:solidFill>
            <a:prstDash val="solid"/>
          </a:ln>
        </p:spPr>
        <p:txBody>
          <a:bodyPr/>
          <a:lstStyle/>
          <a:p>
            <a:endParaRPr lang="en-IN"/>
          </a:p>
        </p:txBody>
      </p:sp>
      <p:sp>
        <p:nvSpPr>
          <p:cNvPr id="4" name="Shape 2"/>
          <p:cNvSpPr/>
          <p:nvPr/>
        </p:nvSpPr>
        <p:spPr>
          <a:xfrm>
            <a:off x="0" y="4846320"/>
            <a:ext cx="9144000" cy="297180"/>
          </a:xfrm>
          <a:prstGeom prst="rect">
            <a:avLst/>
          </a:prstGeom>
          <a:solidFill>
            <a:srgbClr val="0EA5E9"/>
          </a:solidFill>
          <a:ln/>
        </p:spPr>
        <p:txBody>
          <a:bodyPr/>
          <a:lstStyle/>
          <a:p>
            <a:endParaRPr lang="en-IN"/>
          </a:p>
        </p:txBody>
      </p:sp>
      <p:sp>
        <p:nvSpPr>
          <p:cNvPr id="5" name="Text 3"/>
          <p:cNvSpPr/>
          <p:nvPr/>
        </p:nvSpPr>
        <p:spPr>
          <a:xfrm>
            <a:off x="457200" y="1188720"/>
            <a:ext cx="8229600"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Thank You</a:t>
            </a:r>
            <a:endParaRPr lang="en-US" sz="6000" dirty="0"/>
          </a:p>
        </p:txBody>
      </p:sp>
      <p:sp>
        <p:nvSpPr>
          <p:cNvPr id="6" name="Text 4"/>
          <p:cNvSpPr/>
          <p:nvPr/>
        </p:nvSpPr>
        <p:spPr>
          <a:xfrm>
            <a:off x="457200" y="2286000"/>
            <a:ext cx="8229600" cy="411480"/>
          </a:xfrm>
          <a:prstGeom prst="rect">
            <a:avLst/>
          </a:prstGeom>
          <a:noFill/>
          <a:ln/>
        </p:spPr>
        <p:txBody>
          <a:bodyPr wrap="square" lIns="0" tIns="0" rIns="0" bIns="0" rtlCol="0" anchor="ctr"/>
          <a:lstStyle/>
          <a:p>
            <a:pPr marL="0" indent="0" algn="ctr">
              <a:buNone/>
            </a:pPr>
            <a:r>
              <a:rPr lang="en-US" sz="1400" dirty="0">
                <a:solidFill>
                  <a:srgbClr val="8FA8C8"/>
                </a:solidFill>
                <a:latin typeface="Calibri" pitchFamily="34" charset="0"/>
                <a:ea typeface="Calibri" pitchFamily="34" charset="-122"/>
                <a:cs typeface="Calibri" pitchFamily="34" charset="-120"/>
              </a:rPr>
              <a:t>Regional Sales Analysis  |  XYZ Company  |  2014–2018</a:t>
            </a:r>
            <a:endParaRPr lang="en-US" sz="1400" dirty="0"/>
          </a:p>
        </p:txBody>
      </p:sp>
      <p:sp>
        <p:nvSpPr>
          <p:cNvPr id="7" name="Text 5"/>
          <p:cNvSpPr/>
          <p:nvPr/>
        </p:nvSpPr>
        <p:spPr>
          <a:xfrm>
            <a:off x="914400" y="3200400"/>
            <a:ext cx="1828800" cy="640080"/>
          </a:xfrm>
          <a:prstGeom prst="rect">
            <a:avLst/>
          </a:prstGeom>
          <a:noFill/>
          <a:ln/>
        </p:spPr>
        <p:txBody>
          <a:bodyPr wrap="square" lIns="0" tIns="0" rIns="0" bIns="0" rtlCol="0" anchor="ctr"/>
          <a:lstStyle/>
          <a:p>
            <a:pPr marL="0" indent="0" algn="ctr">
              <a:buNone/>
            </a:pPr>
            <a:r>
              <a:rPr lang="en-US" sz="3000" b="1" dirty="0">
                <a:solidFill>
                  <a:srgbClr val="0EA5E9"/>
                </a:solidFill>
                <a:latin typeface="Calibri" pitchFamily="34" charset="0"/>
                <a:ea typeface="Calibri" pitchFamily="34" charset="-122"/>
                <a:cs typeface="Calibri" pitchFamily="34" charset="-120"/>
              </a:rPr>
              <a:t>64,104</a:t>
            </a:r>
            <a:endParaRPr lang="en-US" sz="3000" dirty="0"/>
          </a:p>
        </p:txBody>
      </p:sp>
      <p:sp>
        <p:nvSpPr>
          <p:cNvPr id="8" name="Text 6"/>
          <p:cNvSpPr/>
          <p:nvPr/>
        </p:nvSpPr>
        <p:spPr>
          <a:xfrm>
            <a:off x="914400" y="3858768"/>
            <a:ext cx="1828800" cy="320040"/>
          </a:xfrm>
          <a:prstGeom prst="rect">
            <a:avLst/>
          </a:prstGeom>
          <a:noFill/>
          <a:ln/>
        </p:spPr>
        <p:txBody>
          <a:bodyPr wrap="square" lIns="0" tIns="0" rIns="0" bIns="0" rtlCol="0" anchor="ctr"/>
          <a:lstStyle/>
          <a:p>
            <a:pPr marL="0" indent="0" algn="ctr">
              <a:buNone/>
            </a:pPr>
            <a:r>
              <a:rPr lang="en-US" sz="1100" dirty="0">
                <a:solidFill>
                  <a:srgbClr val="D1D9E8"/>
                </a:solidFill>
                <a:latin typeface="Calibri" pitchFamily="34" charset="0"/>
                <a:ea typeface="Calibri" pitchFamily="34" charset="-122"/>
                <a:cs typeface="Calibri" pitchFamily="34" charset="-120"/>
              </a:rPr>
              <a:t>Orders Analyzed</a:t>
            </a:r>
            <a:endParaRPr lang="en-US" sz="1100" dirty="0"/>
          </a:p>
        </p:txBody>
      </p:sp>
      <p:sp>
        <p:nvSpPr>
          <p:cNvPr id="9" name="Text 7"/>
          <p:cNvSpPr/>
          <p:nvPr/>
        </p:nvSpPr>
        <p:spPr>
          <a:xfrm>
            <a:off x="2834640" y="3200400"/>
            <a:ext cx="1828800" cy="640080"/>
          </a:xfrm>
          <a:prstGeom prst="rect">
            <a:avLst/>
          </a:prstGeom>
          <a:noFill/>
          <a:ln/>
        </p:spPr>
        <p:txBody>
          <a:bodyPr wrap="square" lIns="0" tIns="0" rIns="0" bIns="0" rtlCol="0" anchor="ctr"/>
          <a:lstStyle/>
          <a:p>
            <a:pPr marL="0" indent="0" algn="ctr">
              <a:buNone/>
            </a:pPr>
            <a:r>
              <a:rPr lang="en-US" sz="3000" b="1" dirty="0">
                <a:solidFill>
                  <a:srgbClr val="0EA5E9"/>
                </a:solidFill>
                <a:latin typeface="Calibri" pitchFamily="34" charset="0"/>
                <a:ea typeface="Calibri" pitchFamily="34" charset="-122"/>
                <a:cs typeface="Calibri" pitchFamily="34" charset="-120"/>
              </a:rPr>
              <a:t>5 Years</a:t>
            </a:r>
            <a:endParaRPr lang="en-US" sz="3000" dirty="0"/>
          </a:p>
        </p:txBody>
      </p:sp>
      <p:sp>
        <p:nvSpPr>
          <p:cNvPr id="10" name="Text 8"/>
          <p:cNvSpPr/>
          <p:nvPr/>
        </p:nvSpPr>
        <p:spPr>
          <a:xfrm>
            <a:off x="2834640" y="3858768"/>
            <a:ext cx="1828800" cy="320040"/>
          </a:xfrm>
          <a:prstGeom prst="rect">
            <a:avLst/>
          </a:prstGeom>
          <a:noFill/>
          <a:ln/>
        </p:spPr>
        <p:txBody>
          <a:bodyPr wrap="square" lIns="0" tIns="0" rIns="0" bIns="0" rtlCol="0" anchor="ctr"/>
          <a:lstStyle/>
          <a:p>
            <a:pPr marL="0" indent="0" algn="ctr">
              <a:buNone/>
            </a:pPr>
            <a:r>
              <a:rPr lang="en-US" sz="1100" dirty="0">
                <a:solidFill>
                  <a:srgbClr val="D1D9E8"/>
                </a:solidFill>
                <a:latin typeface="Calibri" pitchFamily="34" charset="0"/>
                <a:ea typeface="Calibri" pitchFamily="34" charset="-122"/>
                <a:cs typeface="Calibri" pitchFamily="34" charset="-120"/>
              </a:rPr>
              <a:t>Data Span</a:t>
            </a:r>
            <a:endParaRPr lang="en-US" sz="1100" dirty="0"/>
          </a:p>
        </p:txBody>
      </p:sp>
      <p:sp>
        <p:nvSpPr>
          <p:cNvPr id="11" name="Text 9"/>
          <p:cNvSpPr/>
          <p:nvPr/>
        </p:nvSpPr>
        <p:spPr>
          <a:xfrm>
            <a:off x="4754880" y="3200400"/>
            <a:ext cx="1828800" cy="640080"/>
          </a:xfrm>
          <a:prstGeom prst="rect">
            <a:avLst/>
          </a:prstGeom>
          <a:noFill/>
          <a:ln/>
        </p:spPr>
        <p:txBody>
          <a:bodyPr wrap="square" lIns="0" tIns="0" rIns="0" bIns="0" rtlCol="0" anchor="ctr"/>
          <a:lstStyle/>
          <a:p>
            <a:pPr marL="0" indent="0" algn="ctr">
              <a:buNone/>
            </a:pPr>
            <a:r>
              <a:rPr lang="en-US" sz="3000" b="1" dirty="0">
                <a:solidFill>
                  <a:srgbClr val="0EA5E9"/>
                </a:solidFill>
                <a:latin typeface="Calibri" pitchFamily="34" charset="0"/>
                <a:ea typeface="Calibri" pitchFamily="34" charset="-122"/>
                <a:cs typeface="Calibri" pitchFamily="34" charset="-120"/>
              </a:rPr>
              <a:t>30</a:t>
            </a:r>
            <a:endParaRPr lang="en-US" sz="3000" dirty="0"/>
          </a:p>
        </p:txBody>
      </p:sp>
      <p:sp>
        <p:nvSpPr>
          <p:cNvPr id="12" name="Text 10"/>
          <p:cNvSpPr/>
          <p:nvPr/>
        </p:nvSpPr>
        <p:spPr>
          <a:xfrm>
            <a:off x="4754880" y="3858768"/>
            <a:ext cx="1828800" cy="320040"/>
          </a:xfrm>
          <a:prstGeom prst="rect">
            <a:avLst/>
          </a:prstGeom>
          <a:noFill/>
          <a:ln/>
        </p:spPr>
        <p:txBody>
          <a:bodyPr wrap="square" lIns="0" tIns="0" rIns="0" bIns="0" rtlCol="0" anchor="ctr"/>
          <a:lstStyle/>
          <a:p>
            <a:pPr marL="0" indent="0" algn="ctr">
              <a:buNone/>
            </a:pPr>
            <a:r>
              <a:rPr lang="en-US" sz="1100" dirty="0">
                <a:solidFill>
                  <a:srgbClr val="D1D9E8"/>
                </a:solidFill>
                <a:latin typeface="Calibri" pitchFamily="34" charset="0"/>
                <a:ea typeface="Calibri" pitchFamily="34" charset="-122"/>
                <a:cs typeface="Calibri" pitchFamily="34" charset="-120"/>
              </a:rPr>
              <a:t>Products</a:t>
            </a:r>
            <a:endParaRPr lang="en-US" sz="1100" dirty="0"/>
          </a:p>
        </p:txBody>
      </p:sp>
      <p:sp>
        <p:nvSpPr>
          <p:cNvPr id="13" name="Text 11"/>
          <p:cNvSpPr/>
          <p:nvPr/>
        </p:nvSpPr>
        <p:spPr>
          <a:xfrm>
            <a:off x="6675120" y="3200400"/>
            <a:ext cx="1828800" cy="640080"/>
          </a:xfrm>
          <a:prstGeom prst="rect">
            <a:avLst/>
          </a:prstGeom>
          <a:noFill/>
          <a:ln/>
        </p:spPr>
        <p:txBody>
          <a:bodyPr wrap="square" lIns="0" tIns="0" rIns="0" bIns="0" rtlCol="0" anchor="ctr"/>
          <a:lstStyle/>
          <a:p>
            <a:pPr marL="0" indent="0" algn="ctr">
              <a:buNone/>
            </a:pPr>
            <a:r>
              <a:rPr lang="en-US" sz="3000" b="1" dirty="0">
                <a:solidFill>
                  <a:srgbClr val="0EA5E9"/>
                </a:solidFill>
                <a:latin typeface="Calibri" pitchFamily="34" charset="0"/>
                <a:ea typeface="Calibri" pitchFamily="34" charset="-122"/>
                <a:cs typeface="Calibri" pitchFamily="34" charset="-120"/>
              </a:rPr>
              <a:t>4</a:t>
            </a:r>
            <a:endParaRPr lang="en-US" sz="3000" dirty="0"/>
          </a:p>
        </p:txBody>
      </p:sp>
      <p:sp>
        <p:nvSpPr>
          <p:cNvPr id="14" name="Text 12"/>
          <p:cNvSpPr/>
          <p:nvPr/>
        </p:nvSpPr>
        <p:spPr>
          <a:xfrm>
            <a:off x="6675120" y="3858768"/>
            <a:ext cx="1828800" cy="320040"/>
          </a:xfrm>
          <a:prstGeom prst="rect">
            <a:avLst/>
          </a:prstGeom>
          <a:noFill/>
          <a:ln/>
        </p:spPr>
        <p:txBody>
          <a:bodyPr wrap="square" lIns="0" tIns="0" rIns="0" bIns="0" rtlCol="0" anchor="ctr"/>
          <a:lstStyle/>
          <a:p>
            <a:pPr marL="0" indent="0" algn="ctr">
              <a:buNone/>
            </a:pPr>
            <a:r>
              <a:rPr lang="en-US" sz="1100" dirty="0">
                <a:solidFill>
                  <a:srgbClr val="D1D9E8"/>
                </a:solidFill>
                <a:latin typeface="Calibri" pitchFamily="34" charset="0"/>
                <a:ea typeface="Calibri" pitchFamily="34" charset="-122"/>
                <a:cs typeface="Calibri" pitchFamily="34" charset="-120"/>
              </a:rPr>
              <a:t>US Regions</a:t>
            </a:r>
            <a:endParaRPr lang="en-US" sz="1100" dirty="0"/>
          </a:p>
        </p:txBody>
      </p:sp>
      <p:sp>
        <p:nvSpPr>
          <p:cNvPr id="15" name="Text 13"/>
          <p:cNvSpPr/>
          <p:nvPr/>
        </p:nvSpPr>
        <p:spPr>
          <a:xfrm>
            <a:off x="457200" y="4864608"/>
            <a:ext cx="8229600" cy="246888"/>
          </a:xfrm>
          <a:prstGeom prst="rect">
            <a:avLst/>
          </a:prstGeom>
          <a:noFill/>
          <a:ln/>
        </p:spPr>
        <p:txBody>
          <a:bodyPr wrap="square" lIns="0" tIns="0" rIns="0" bIns="0" rtlCol="0" anchor="ctr"/>
          <a:lstStyle/>
          <a:p>
            <a:pPr marL="0" indent="0" algn="ctr">
              <a:buNone/>
            </a:pPr>
            <a:r>
              <a:rPr lang="en-US" sz="1000" b="1" dirty="0">
                <a:solidFill>
                  <a:srgbClr val="0A1628"/>
                </a:solidFill>
                <a:latin typeface="Calibri" pitchFamily="34" charset="0"/>
                <a:ea typeface="Calibri" pitchFamily="34" charset="-122"/>
                <a:cs typeface="Calibri" pitchFamily="34" charset="-120"/>
              </a:rPr>
              <a:t>Data Analyst  Sidda Govardhan Reddy  |  XYZ Company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1134</Words>
  <Application>Microsoft Office PowerPoint</Application>
  <PresentationFormat>On-screen Show (16:9)</PresentationFormat>
  <Paragraphs>210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Regional Sales Analysis 2014–2018</dc:title>
  <dc:subject>PptxGenJS Presentation</dc:subject>
  <dc:creator>XYZ Company</dc:creator>
  <cp:lastModifiedBy>Govardhan Reddy Sidda</cp:lastModifiedBy>
  <cp:revision>2</cp:revision>
  <dcterms:created xsi:type="dcterms:W3CDTF">2026-04-09T05:02:56Z</dcterms:created>
  <dcterms:modified xsi:type="dcterms:W3CDTF">2026-04-09T05:24:44Z</dcterms:modified>
</cp:coreProperties>
</file>